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Calibri" panose="020F0502020204030204" pitchFamily="34" charset="0"/>
      <p:regular r:id="rId10"/>
      <p:bold r:id="rId11"/>
      <p:italic r:id="rId12"/>
      <p:boldItalic r:id="rId13"/>
    </p:embeddedFont>
    <p:embeddedFont>
      <p:font typeface="Telegraf" panose="020B0604020202020204" charset="0"/>
      <p:regular r:id="rId14"/>
    </p:embeddedFont>
    <p:embeddedFont>
      <p:font typeface="Telegraf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0" d="100"/>
          <a:sy n="40" d="100"/>
        </p:scale>
        <p:origin x="82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a:off x="10626953" y="2259572"/>
            <a:ext cx="6632347" cy="4421565"/>
          </a:xfrm>
          <a:custGeom>
            <a:avLst/>
            <a:gdLst/>
            <a:ahLst/>
            <a:cxnLst/>
            <a:rect l="l" t="t" r="r" b="b"/>
            <a:pathLst>
              <a:path w="6632347" h="4421565">
                <a:moveTo>
                  <a:pt x="0" y="0"/>
                </a:moveTo>
                <a:lnTo>
                  <a:pt x="6632347" y="0"/>
                </a:lnTo>
                <a:lnTo>
                  <a:pt x="6632347" y="4421565"/>
                </a:lnTo>
                <a:lnTo>
                  <a:pt x="0" y="4421565"/>
                </a:lnTo>
                <a:lnTo>
                  <a:pt x="0" y="0"/>
                </a:lnTo>
                <a:close/>
              </a:path>
            </a:pathLst>
          </a:custGeom>
          <a:blipFill>
            <a:blip r:embed="rId2"/>
            <a:stretch>
              <a:fillRect/>
            </a:stretch>
          </a:blipFill>
        </p:spPr>
      </p:sp>
      <p:grpSp>
        <p:nvGrpSpPr>
          <p:cNvPr id="3" name="Group 3"/>
          <p:cNvGrpSpPr/>
          <p:nvPr/>
        </p:nvGrpSpPr>
        <p:grpSpPr>
          <a:xfrm>
            <a:off x="360094" y="8074633"/>
            <a:ext cx="3592941" cy="1297014"/>
            <a:chOff x="0" y="288588"/>
            <a:chExt cx="4790588" cy="1729353"/>
          </a:xfrm>
        </p:grpSpPr>
        <p:sp>
          <p:nvSpPr>
            <p:cNvPr id="4" name="TextBox 4"/>
            <p:cNvSpPr txBox="1"/>
            <p:nvPr/>
          </p:nvSpPr>
          <p:spPr>
            <a:xfrm>
              <a:off x="0" y="288588"/>
              <a:ext cx="4790588" cy="408488"/>
            </a:xfrm>
            <a:prstGeom prst="rect">
              <a:avLst/>
            </a:prstGeom>
          </p:spPr>
          <p:txBody>
            <a:bodyPr lIns="0" tIns="0" rIns="0" bIns="0" rtlCol="0" anchor="t">
              <a:spAutoFit/>
            </a:bodyPr>
            <a:lstStyle/>
            <a:p>
              <a:pPr algn="ctr">
                <a:lnSpc>
                  <a:spcPts val="2154"/>
                </a:lnSpc>
              </a:pPr>
              <a:r>
                <a:rPr lang="en-US" sz="2800" spc="82" dirty="0">
                  <a:solidFill>
                    <a:srgbClr val="164B82"/>
                  </a:solidFill>
                  <a:latin typeface="Telegraf"/>
                  <a:ea typeface="Telegraf"/>
                  <a:cs typeface="Telegraf"/>
                  <a:sym typeface="Telegraf"/>
                </a:rPr>
                <a:t>Presented by</a:t>
              </a:r>
            </a:p>
          </p:txBody>
        </p:sp>
        <p:sp>
          <p:nvSpPr>
            <p:cNvPr id="5" name="TextBox 5"/>
            <p:cNvSpPr txBox="1"/>
            <p:nvPr/>
          </p:nvSpPr>
          <p:spPr>
            <a:xfrm>
              <a:off x="158808" y="850811"/>
              <a:ext cx="4472971" cy="1167130"/>
            </a:xfrm>
            <a:prstGeom prst="rect">
              <a:avLst/>
            </a:prstGeom>
          </p:spPr>
          <p:txBody>
            <a:bodyPr lIns="0" tIns="0" rIns="0" bIns="0" rtlCol="0" anchor="t">
              <a:spAutoFit/>
            </a:bodyPr>
            <a:lstStyle/>
            <a:p>
              <a:pPr algn="ctr">
                <a:lnSpc>
                  <a:spcPts val="3599"/>
                </a:lnSpc>
              </a:pPr>
              <a:r>
                <a:rPr lang="en-US" sz="2399" spc="57">
                  <a:solidFill>
                    <a:srgbClr val="2F679F"/>
                  </a:solidFill>
                  <a:latin typeface="Telegraf"/>
                  <a:ea typeface="Telegraf"/>
                  <a:cs typeface="Telegraf"/>
                  <a:sym typeface="Telegraf"/>
                </a:rPr>
                <a:t>R. SUHAS </a:t>
              </a:r>
            </a:p>
            <a:p>
              <a:pPr marL="0" lvl="0" indent="0" algn="ctr">
                <a:lnSpc>
                  <a:spcPts val="3599"/>
                </a:lnSpc>
              </a:pPr>
              <a:r>
                <a:rPr lang="en-US" sz="2399" spc="57">
                  <a:solidFill>
                    <a:srgbClr val="2F679F"/>
                  </a:solidFill>
                  <a:latin typeface="Telegraf"/>
                  <a:ea typeface="Telegraf"/>
                  <a:cs typeface="Telegraf"/>
                  <a:sym typeface="Telegraf"/>
                </a:rPr>
                <a:t>K. BHAVANA</a:t>
              </a:r>
            </a:p>
          </p:txBody>
        </p:sp>
      </p:grpSp>
      <p:grpSp>
        <p:nvGrpSpPr>
          <p:cNvPr id="6" name="Group 6"/>
          <p:cNvGrpSpPr/>
          <p:nvPr/>
        </p:nvGrpSpPr>
        <p:grpSpPr>
          <a:xfrm>
            <a:off x="1028700" y="3389554"/>
            <a:ext cx="9321980" cy="2174341"/>
            <a:chOff x="0" y="-38100"/>
            <a:chExt cx="12429306" cy="2899120"/>
          </a:xfrm>
        </p:grpSpPr>
        <p:sp>
          <p:nvSpPr>
            <p:cNvPr id="7" name="TextBox 7"/>
            <p:cNvSpPr txBox="1"/>
            <p:nvPr/>
          </p:nvSpPr>
          <p:spPr>
            <a:xfrm>
              <a:off x="0" y="-38100"/>
              <a:ext cx="11619288" cy="1714500"/>
            </a:xfrm>
            <a:prstGeom prst="rect">
              <a:avLst/>
            </a:prstGeom>
          </p:spPr>
          <p:txBody>
            <a:bodyPr lIns="0" tIns="0" rIns="0" bIns="0" rtlCol="0" anchor="t">
              <a:spAutoFit/>
            </a:bodyPr>
            <a:lstStyle/>
            <a:p>
              <a:pPr marL="0" lvl="0" indent="0" algn="ctr">
                <a:lnSpc>
                  <a:spcPts val="3352"/>
                </a:lnSpc>
                <a:spcBef>
                  <a:spcPct val="0"/>
                </a:spcBef>
              </a:pPr>
              <a:r>
                <a:rPr lang="en-US" sz="2793" b="1">
                  <a:solidFill>
                    <a:srgbClr val="164B82"/>
                  </a:solidFill>
                  <a:latin typeface="Telegraf Bold"/>
                  <a:ea typeface="Telegraf Bold"/>
                  <a:cs typeface="Telegraf Bold"/>
                  <a:sym typeface="Telegraf Bold"/>
                </a:rPr>
                <a:t>MACHINE LEARNING-BASED EARLY PREDICTION OF ROUTING CONGESTION AND SELF-HEATING HOTSPOTS IN ASAP7 FINFET PHYSICAL DESIGN”</a:t>
              </a:r>
            </a:p>
          </p:txBody>
        </p:sp>
        <p:sp>
          <p:nvSpPr>
            <p:cNvPr id="8" name="TextBox 8"/>
            <p:cNvSpPr txBox="1"/>
            <p:nvPr/>
          </p:nvSpPr>
          <p:spPr>
            <a:xfrm>
              <a:off x="5256953" y="2313862"/>
              <a:ext cx="7172353" cy="547158"/>
            </a:xfrm>
            <a:prstGeom prst="rect">
              <a:avLst/>
            </a:prstGeom>
          </p:spPr>
          <p:txBody>
            <a:bodyPr lIns="0" tIns="0" rIns="0" bIns="0" rtlCol="0" anchor="t">
              <a:spAutoFit/>
            </a:bodyPr>
            <a:lstStyle/>
            <a:p>
              <a:pPr algn="ctr">
                <a:lnSpc>
                  <a:spcPts val="1606"/>
                </a:lnSpc>
                <a:spcBef>
                  <a:spcPct val="0"/>
                </a:spcBef>
              </a:pPr>
              <a:r>
                <a:rPr lang="en-US" sz="1236" spc="61" dirty="0">
                  <a:solidFill>
                    <a:srgbClr val="343434"/>
                  </a:solidFill>
                  <a:latin typeface="Telegraf"/>
                  <a:ea typeface="Telegraf"/>
                  <a:cs typeface="Telegraf"/>
                  <a:sym typeface="Telegraf"/>
                </a:rPr>
                <a:t>~ </a:t>
              </a:r>
              <a:r>
                <a:rPr lang="en-US" sz="1600" spc="61" dirty="0">
                  <a:solidFill>
                    <a:schemeClr val="tx2">
                      <a:lumMod val="50000"/>
                    </a:schemeClr>
                  </a:solidFill>
                  <a:latin typeface="Telegraf"/>
                  <a:ea typeface="Telegraf"/>
                  <a:cs typeface="Telegraf"/>
                  <a:sym typeface="Telegraf"/>
                </a:rPr>
                <a:t>Streamlining </a:t>
              </a:r>
              <a:r>
                <a:rPr lang="en-US" sz="1600" spc="61" dirty="0" err="1">
                  <a:solidFill>
                    <a:schemeClr val="tx2">
                      <a:lumMod val="50000"/>
                    </a:schemeClr>
                  </a:solidFill>
                  <a:latin typeface="Telegraf"/>
                  <a:ea typeface="Telegraf"/>
                  <a:cs typeface="Telegraf"/>
                  <a:sym typeface="Telegraf"/>
                </a:rPr>
                <a:t>FinFET</a:t>
              </a:r>
              <a:r>
                <a:rPr lang="en-US" sz="1600" spc="61" dirty="0">
                  <a:solidFill>
                    <a:schemeClr val="tx2">
                      <a:lumMod val="50000"/>
                    </a:schemeClr>
                  </a:solidFill>
                  <a:latin typeface="Telegraf"/>
                  <a:ea typeface="Telegraf"/>
                  <a:cs typeface="Telegraf"/>
                  <a:sym typeface="Telegraf"/>
                </a:rPr>
                <a:t> Layout Optimization Using Machine Learning</a:t>
              </a:r>
              <a:endParaRPr lang="en-US" sz="1236" spc="61" dirty="0">
                <a:solidFill>
                  <a:schemeClr val="tx2">
                    <a:lumMod val="50000"/>
                  </a:schemeClr>
                </a:solidFill>
                <a:latin typeface="Telegraf"/>
                <a:ea typeface="Telegraf"/>
                <a:cs typeface="Telegraf"/>
                <a:sym typeface="Telegraf"/>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a:off x="11402276" y="2919841"/>
            <a:ext cx="6392453" cy="3586010"/>
          </a:xfrm>
          <a:custGeom>
            <a:avLst/>
            <a:gdLst/>
            <a:ahLst/>
            <a:cxnLst/>
            <a:rect l="l" t="t" r="r" b="b"/>
            <a:pathLst>
              <a:path w="6392453" h="3586010">
                <a:moveTo>
                  <a:pt x="0" y="0"/>
                </a:moveTo>
                <a:lnTo>
                  <a:pt x="6392453" y="0"/>
                </a:lnTo>
                <a:lnTo>
                  <a:pt x="6392453" y="3586010"/>
                </a:lnTo>
                <a:lnTo>
                  <a:pt x="0" y="3586010"/>
                </a:lnTo>
                <a:lnTo>
                  <a:pt x="0" y="0"/>
                </a:lnTo>
                <a:close/>
              </a:path>
            </a:pathLst>
          </a:custGeom>
          <a:blipFill>
            <a:blip r:embed="rId2"/>
            <a:stretch>
              <a:fillRect/>
            </a:stretch>
          </a:blipFill>
        </p:spPr>
      </p:sp>
      <p:sp>
        <p:nvSpPr>
          <p:cNvPr id="3" name="TextBox 3"/>
          <p:cNvSpPr txBox="1"/>
          <p:nvPr/>
        </p:nvSpPr>
        <p:spPr>
          <a:xfrm>
            <a:off x="666750" y="600075"/>
            <a:ext cx="7783474" cy="1047750"/>
          </a:xfrm>
          <a:prstGeom prst="rect">
            <a:avLst/>
          </a:prstGeom>
        </p:spPr>
        <p:txBody>
          <a:bodyPr lIns="0" tIns="0" rIns="0" bIns="0" rtlCol="0" anchor="t">
            <a:spAutoFit/>
          </a:bodyPr>
          <a:lstStyle/>
          <a:p>
            <a:pPr marL="0" lvl="0" indent="0" algn="l">
              <a:lnSpc>
                <a:spcPts val="7799"/>
              </a:lnSpc>
              <a:spcBef>
                <a:spcPct val="0"/>
              </a:spcBef>
            </a:pPr>
            <a:r>
              <a:rPr lang="en-US" sz="6499" b="1">
                <a:solidFill>
                  <a:srgbClr val="2F679F"/>
                </a:solidFill>
                <a:latin typeface="Telegraf Bold"/>
                <a:ea typeface="Telegraf Bold"/>
                <a:cs typeface="Telegraf Bold"/>
                <a:sym typeface="Telegraf Bold"/>
              </a:rPr>
              <a:t>INTRODUCTION</a:t>
            </a:r>
          </a:p>
        </p:txBody>
      </p:sp>
      <p:sp>
        <p:nvSpPr>
          <p:cNvPr id="4" name="TextBox 4"/>
          <p:cNvSpPr txBox="1"/>
          <p:nvPr/>
        </p:nvSpPr>
        <p:spPr>
          <a:xfrm>
            <a:off x="666750" y="2449201"/>
            <a:ext cx="10507950" cy="7135608"/>
          </a:xfrm>
          <a:prstGeom prst="rect">
            <a:avLst/>
          </a:prstGeom>
        </p:spPr>
        <p:txBody>
          <a:bodyPr lIns="0" tIns="0" rIns="0" bIns="0" rtlCol="0" anchor="t">
            <a:spAutoFit/>
          </a:bodyPr>
          <a:lstStyle/>
          <a:p>
            <a:pPr marL="489146" lvl="1" indent="-244573" algn="l">
              <a:lnSpc>
                <a:spcPct val="150000"/>
              </a:lnSpc>
              <a:buFont typeface="Arial"/>
              <a:buChar char="•"/>
            </a:pPr>
            <a:r>
              <a:rPr lang="en-US" sz="2400" spc="113" dirty="0">
                <a:solidFill>
                  <a:srgbClr val="343434"/>
                </a:solidFill>
                <a:latin typeface="Times New Roman" panose="02020603050405020304" pitchFamily="18" charset="0"/>
                <a:ea typeface="Telegraf"/>
                <a:cs typeface="Times New Roman" panose="02020603050405020304" pitchFamily="18" charset="0"/>
                <a:sym typeface="Telegraf"/>
              </a:rPr>
              <a:t>Advanced </a:t>
            </a:r>
            <a:r>
              <a:rPr lang="en-US" sz="2400" spc="113" dirty="0" err="1">
                <a:solidFill>
                  <a:srgbClr val="343434"/>
                </a:solidFill>
                <a:latin typeface="Times New Roman" panose="02020603050405020304" pitchFamily="18" charset="0"/>
                <a:ea typeface="Telegraf"/>
                <a:cs typeface="Times New Roman" panose="02020603050405020304" pitchFamily="18" charset="0"/>
                <a:sym typeface="Telegraf"/>
              </a:rPr>
              <a:t>FinFET</a:t>
            </a:r>
            <a:r>
              <a:rPr lang="en-US" sz="2400" spc="113" dirty="0">
                <a:solidFill>
                  <a:srgbClr val="343434"/>
                </a:solidFill>
                <a:latin typeface="Times New Roman" panose="02020603050405020304" pitchFamily="18" charset="0"/>
                <a:ea typeface="Telegraf"/>
                <a:cs typeface="Times New Roman" panose="02020603050405020304" pitchFamily="18" charset="0"/>
                <a:sym typeface="Telegraf"/>
              </a:rPr>
              <a:t> technologies face increasing challenges in physical design due to high device density, limited routing resources, and increased power density.</a:t>
            </a:r>
          </a:p>
          <a:p>
            <a:pPr marL="489146" lvl="1" indent="-244573" algn="l">
              <a:lnSpc>
                <a:spcPct val="150000"/>
              </a:lnSpc>
              <a:buFont typeface="Arial"/>
              <a:buChar char="•"/>
            </a:pPr>
            <a:r>
              <a:rPr lang="en-US" sz="2400" spc="113" dirty="0">
                <a:solidFill>
                  <a:srgbClr val="343434"/>
                </a:solidFill>
                <a:latin typeface="Times New Roman" panose="02020603050405020304" pitchFamily="18" charset="0"/>
                <a:ea typeface="Telegraf"/>
                <a:cs typeface="Times New Roman" panose="02020603050405020304" pitchFamily="18" charset="0"/>
                <a:sym typeface="Telegraf"/>
              </a:rPr>
              <a:t>Routing congestion can cause routing failures, design-rule violations, and timing degradation.</a:t>
            </a:r>
          </a:p>
          <a:p>
            <a:pPr marL="489146" lvl="1" indent="-244573" algn="l">
              <a:lnSpc>
                <a:spcPct val="150000"/>
              </a:lnSpc>
              <a:buFont typeface="Arial"/>
              <a:buChar char="•"/>
            </a:pPr>
            <a:r>
              <a:rPr lang="en-US" sz="2400" spc="113" dirty="0">
                <a:solidFill>
                  <a:srgbClr val="343434"/>
                </a:solidFill>
                <a:latin typeface="Times New Roman" panose="02020603050405020304" pitchFamily="18" charset="0"/>
                <a:ea typeface="Telegraf"/>
                <a:cs typeface="Times New Roman" panose="02020603050405020304" pitchFamily="18" charset="0"/>
                <a:sym typeface="Telegraf"/>
              </a:rPr>
              <a:t>Self-heating occurs when power dissipation raises the temperature of </a:t>
            </a:r>
            <a:r>
              <a:rPr lang="en-US" sz="2400" spc="113" dirty="0" err="1">
                <a:solidFill>
                  <a:srgbClr val="343434"/>
                </a:solidFill>
                <a:latin typeface="Times New Roman" panose="02020603050405020304" pitchFamily="18" charset="0"/>
                <a:ea typeface="Telegraf"/>
                <a:cs typeface="Times New Roman" panose="02020603050405020304" pitchFamily="18" charset="0"/>
                <a:sym typeface="Telegraf"/>
              </a:rPr>
              <a:t>FinFET</a:t>
            </a:r>
            <a:r>
              <a:rPr lang="en-US" sz="2400" spc="113" dirty="0">
                <a:solidFill>
                  <a:srgbClr val="343434"/>
                </a:solidFill>
                <a:latin typeface="Times New Roman" panose="02020603050405020304" pitchFamily="18" charset="0"/>
                <a:ea typeface="Telegraf"/>
                <a:cs typeface="Times New Roman" panose="02020603050405020304" pitchFamily="18" charset="0"/>
                <a:sym typeface="Telegraf"/>
              </a:rPr>
              <a:t> devices, affecting performance and reliability.</a:t>
            </a:r>
          </a:p>
          <a:p>
            <a:pPr marL="489146" lvl="1" indent="-244573" algn="l">
              <a:lnSpc>
                <a:spcPct val="150000"/>
              </a:lnSpc>
              <a:buFont typeface="Arial"/>
              <a:buChar char="•"/>
            </a:pPr>
            <a:r>
              <a:rPr lang="en-US" sz="2400" spc="113" dirty="0">
                <a:solidFill>
                  <a:srgbClr val="343434"/>
                </a:solidFill>
                <a:latin typeface="Times New Roman" panose="02020603050405020304" pitchFamily="18" charset="0"/>
                <a:ea typeface="Telegraf"/>
                <a:cs typeface="Times New Roman" panose="02020603050405020304" pitchFamily="18" charset="0"/>
                <a:sym typeface="Telegraf"/>
              </a:rPr>
              <a:t>These hotspots are often identified at later stages of the physical-design flow, making corrections more costly.</a:t>
            </a:r>
          </a:p>
          <a:p>
            <a:pPr marL="489146" lvl="1" indent="-244573" algn="l">
              <a:lnSpc>
                <a:spcPct val="150000"/>
              </a:lnSpc>
              <a:buFont typeface="Arial"/>
              <a:buChar char="•"/>
            </a:pPr>
            <a:r>
              <a:rPr lang="en-US" sz="2400" spc="113" dirty="0">
                <a:solidFill>
                  <a:srgbClr val="343434"/>
                </a:solidFill>
                <a:latin typeface="Times New Roman" panose="02020603050405020304" pitchFamily="18" charset="0"/>
                <a:ea typeface="Telegraf"/>
                <a:cs typeface="Times New Roman" panose="02020603050405020304" pitchFamily="18" charset="0"/>
                <a:sym typeface="Telegraf"/>
              </a:rPr>
              <a:t>Machine learning can use early physical-design and activity features to predict congestion and self-heating hotspots in advance.</a:t>
            </a:r>
          </a:p>
          <a:p>
            <a:pPr marL="489146" lvl="1" indent="-244573" algn="l">
              <a:lnSpc>
                <a:spcPct val="150000"/>
              </a:lnSpc>
              <a:buFont typeface="Arial"/>
              <a:buChar char="•"/>
            </a:pPr>
            <a:r>
              <a:rPr lang="en-US" sz="2400" spc="113" dirty="0">
                <a:solidFill>
                  <a:srgbClr val="343434"/>
                </a:solidFill>
                <a:latin typeface="Times New Roman" panose="02020603050405020304" pitchFamily="18" charset="0"/>
                <a:ea typeface="Telegraf"/>
                <a:cs typeface="Times New Roman" panose="02020603050405020304" pitchFamily="18" charset="0"/>
                <a:sym typeface="Telegraf"/>
              </a:rPr>
              <a:t>This work explores ML-based hotspot prediction using the ASAP7 7-nm </a:t>
            </a:r>
            <a:r>
              <a:rPr lang="en-US" sz="2400" spc="113" dirty="0" err="1">
                <a:solidFill>
                  <a:srgbClr val="343434"/>
                </a:solidFill>
                <a:latin typeface="Times New Roman" panose="02020603050405020304" pitchFamily="18" charset="0"/>
                <a:ea typeface="Telegraf"/>
                <a:cs typeface="Times New Roman" panose="02020603050405020304" pitchFamily="18" charset="0"/>
                <a:sym typeface="Telegraf"/>
              </a:rPr>
              <a:t>FinFET</a:t>
            </a:r>
            <a:r>
              <a:rPr lang="en-US" sz="2400" spc="113" dirty="0">
                <a:solidFill>
                  <a:srgbClr val="343434"/>
                </a:solidFill>
                <a:latin typeface="Times New Roman" panose="02020603050405020304" pitchFamily="18" charset="0"/>
                <a:ea typeface="Telegraf"/>
                <a:cs typeface="Times New Roman" panose="02020603050405020304" pitchFamily="18" charset="0"/>
                <a:sym typeface="Telegraf"/>
              </a:rPr>
              <a:t> platform to support early physical-design optimization.</a:t>
            </a:r>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TextBox 2"/>
          <p:cNvSpPr txBox="1"/>
          <p:nvPr/>
        </p:nvSpPr>
        <p:spPr>
          <a:xfrm>
            <a:off x="832735" y="3041156"/>
            <a:ext cx="15477177" cy="5001369"/>
          </a:xfrm>
          <a:prstGeom prst="rect">
            <a:avLst/>
          </a:prstGeom>
        </p:spPr>
        <p:txBody>
          <a:bodyPr lIns="0" tIns="0" rIns="0" bIns="0" rtlCol="0" anchor="t">
            <a:spAutoFit/>
          </a:bodyPr>
          <a:lstStyle/>
          <a:p>
            <a:pPr algn="l">
              <a:lnSpc>
                <a:spcPts val="3000"/>
              </a:lnSpc>
            </a:pPr>
            <a:r>
              <a:rPr lang="en-US" sz="2500" spc="125" dirty="0">
                <a:solidFill>
                  <a:srgbClr val="343434"/>
                </a:solidFill>
                <a:latin typeface="Telegraf"/>
                <a:ea typeface="Telegraf"/>
                <a:cs typeface="Telegraf"/>
                <a:sym typeface="Telegraf"/>
              </a:rPr>
              <a:t>1. </a:t>
            </a:r>
            <a:r>
              <a:rPr lang="en-US" sz="2500" spc="125" dirty="0">
                <a:solidFill>
                  <a:srgbClr val="343434"/>
                </a:solidFill>
                <a:latin typeface="Times New Roman" panose="02020603050405020304" pitchFamily="18" charset="0"/>
                <a:ea typeface="Telegraf"/>
                <a:cs typeface="Times New Roman" panose="02020603050405020304" pitchFamily="18" charset="0"/>
                <a:sym typeface="Telegraf"/>
              </a:rPr>
              <a:t>ML for Routing Congestion / DRC Prediction</a:t>
            </a:r>
          </a:p>
          <a:p>
            <a:pPr algn="l">
              <a:lnSpc>
                <a:spcPts val="3000"/>
              </a:lnSpc>
            </a:pPr>
            <a:r>
              <a:rPr lang="en-US" sz="2500" spc="125" dirty="0">
                <a:solidFill>
                  <a:srgbClr val="343434"/>
                </a:solidFill>
                <a:latin typeface="Times New Roman" panose="02020603050405020304" pitchFamily="18" charset="0"/>
                <a:ea typeface="Telegraf"/>
                <a:cs typeface="Times New Roman" panose="02020603050405020304" pitchFamily="18" charset="0"/>
                <a:sym typeface="Telegraf"/>
              </a:rPr>
              <a:t>2. ML for </a:t>
            </a:r>
            <a:r>
              <a:rPr lang="en-US" sz="2500" spc="125" dirty="0" err="1">
                <a:solidFill>
                  <a:srgbClr val="343434"/>
                </a:solidFill>
                <a:latin typeface="Times New Roman" panose="02020603050405020304" pitchFamily="18" charset="0"/>
                <a:ea typeface="Telegraf"/>
                <a:cs typeface="Times New Roman" panose="02020603050405020304" pitchFamily="18" charset="0"/>
                <a:sym typeface="Telegraf"/>
              </a:rPr>
              <a:t>FinFET</a:t>
            </a:r>
            <a:r>
              <a:rPr lang="en-US" sz="2500" spc="125" dirty="0">
                <a:solidFill>
                  <a:srgbClr val="343434"/>
                </a:solidFill>
                <a:latin typeface="Times New Roman" panose="02020603050405020304" pitchFamily="18" charset="0"/>
                <a:ea typeface="Telegraf"/>
                <a:cs typeface="Times New Roman" panose="02020603050405020304" pitchFamily="18" charset="0"/>
                <a:sym typeface="Telegraf"/>
              </a:rPr>
              <a:t> Self-Heating Prediction</a:t>
            </a:r>
          </a:p>
          <a:p>
            <a:pPr algn="l">
              <a:lnSpc>
                <a:spcPts val="3000"/>
              </a:lnSpc>
            </a:pPr>
            <a:r>
              <a:rPr lang="en-US" sz="2500" spc="125" dirty="0">
                <a:solidFill>
                  <a:srgbClr val="343434"/>
                </a:solidFill>
                <a:latin typeface="Times New Roman" panose="02020603050405020304" pitchFamily="18" charset="0"/>
                <a:ea typeface="Telegraf"/>
                <a:cs typeface="Times New Roman" panose="02020603050405020304" pitchFamily="18" charset="0"/>
                <a:sym typeface="Telegraf"/>
              </a:rPr>
              <a:t>3. ML-Based Processor-Level Self-Heating Analysis</a:t>
            </a:r>
          </a:p>
          <a:p>
            <a:pPr algn="l">
              <a:lnSpc>
                <a:spcPts val="3000"/>
              </a:lnSpc>
            </a:pPr>
            <a:r>
              <a:rPr lang="en-US" sz="2500" spc="125" dirty="0">
                <a:solidFill>
                  <a:srgbClr val="343434"/>
                </a:solidFill>
                <a:latin typeface="Times New Roman" panose="02020603050405020304" pitchFamily="18" charset="0"/>
                <a:ea typeface="Telegraf"/>
                <a:cs typeface="Times New Roman" panose="02020603050405020304" pitchFamily="18" charset="0"/>
                <a:sym typeface="Telegraf"/>
              </a:rPr>
              <a:t>4. Thermal-Aware ML Placement</a:t>
            </a:r>
          </a:p>
          <a:p>
            <a:pPr algn="l">
              <a:lnSpc>
                <a:spcPts val="3000"/>
              </a:lnSpc>
            </a:pPr>
            <a:endParaRPr lang="en-US" sz="2500" spc="125" dirty="0">
              <a:solidFill>
                <a:srgbClr val="343434"/>
              </a:solidFill>
              <a:latin typeface="Times New Roman" panose="02020603050405020304" pitchFamily="18" charset="0"/>
              <a:ea typeface="Telegraf"/>
              <a:cs typeface="Times New Roman" panose="02020603050405020304" pitchFamily="18" charset="0"/>
              <a:sym typeface="Telegraf"/>
            </a:endParaRPr>
          </a:p>
          <a:p>
            <a:pPr algn="l">
              <a:lnSpc>
                <a:spcPts val="3000"/>
              </a:lnSpc>
            </a:pPr>
            <a:endParaRPr lang="en-US" sz="2500" spc="125" dirty="0">
              <a:solidFill>
                <a:srgbClr val="343434"/>
              </a:solidFill>
              <a:latin typeface="Times New Roman" panose="02020603050405020304" pitchFamily="18" charset="0"/>
              <a:ea typeface="Telegraf"/>
              <a:cs typeface="Times New Roman" panose="02020603050405020304" pitchFamily="18" charset="0"/>
              <a:sym typeface="Telegraf"/>
            </a:endParaRPr>
          </a:p>
          <a:p>
            <a:pPr algn="l">
              <a:lnSpc>
                <a:spcPts val="3000"/>
              </a:lnSpc>
            </a:pPr>
            <a:r>
              <a:rPr lang="en-US" sz="2500" spc="125" dirty="0">
                <a:solidFill>
                  <a:srgbClr val="343434"/>
                </a:solidFill>
                <a:latin typeface="Times New Roman" panose="02020603050405020304" pitchFamily="18" charset="0"/>
                <a:ea typeface="Telegraf"/>
                <a:cs typeface="Times New Roman" panose="02020603050405020304" pitchFamily="18" charset="0"/>
                <a:sym typeface="Telegraf"/>
              </a:rPr>
              <a:t>        -------------------------  . ---------------------------- </a:t>
            </a:r>
          </a:p>
          <a:p>
            <a:pPr algn="l">
              <a:lnSpc>
                <a:spcPts val="3000"/>
              </a:lnSpc>
            </a:pPr>
            <a:endParaRPr lang="en-US" sz="2500" spc="125" dirty="0">
              <a:solidFill>
                <a:srgbClr val="343434"/>
              </a:solidFill>
              <a:latin typeface="Times New Roman" panose="02020603050405020304" pitchFamily="18" charset="0"/>
              <a:ea typeface="Telegraf"/>
              <a:cs typeface="Times New Roman" panose="02020603050405020304" pitchFamily="18" charset="0"/>
              <a:sym typeface="Telegraf"/>
            </a:endParaRPr>
          </a:p>
          <a:p>
            <a:pPr algn="l">
              <a:lnSpc>
                <a:spcPts val="3000"/>
              </a:lnSpc>
            </a:pPr>
            <a:endParaRPr lang="en-US" sz="2500" spc="125" dirty="0">
              <a:solidFill>
                <a:srgbClr val="343434"/>
              </a:solidFill>
              <a:latin typeface="Times New Roman" panose="02020603050405020304" pitchFamily="18" charset="0"/>
              <a:ea typeface="Telegraf"/>
              <a:cs typeface="Times New Roman" panose="02020603050405020304" pitchFamily="18" charset="0"/>
              <a:sym typeface="Telegraf"/>
            </a:endParaRPr>
          </a:p>
          <a:p>
            <a:pPr algn="l">
              <a:lnSpc>
                <a:spcPts val="3000"/>
              </a:lnSpc>
            </a:pPr>
            <a:r>
              <a:rPr lang="en-US" sz="2500" spc="125" dirty="0">
                <a:solidFill>
                  <a:srgbClr val="343434"/>
                </a:solidFill>
                <a:latin typeface="Times New Roman" panose="02020603050405020304" pitchFamily="18" charset="0"/>
                <a:ea typeface="Telegraf"/>
                <a:cs typeface="Times New Roman" panose="02020603050405020304" pitchFamily="18" charset="0"/>
                <a:sym typeface="Telegraf"/>
              </a:rPr>
              <a:t>Difference in our initiative:</a:t>
            </a:r>
          </a:p>
          <a:p>
            <a:pPr algn="l">
              <a:lnSpc>
                <a:spcPts val="3000"/>
              </a:lnSpc>
            </a:pPr>
            <a:r>
              <a:rPr lang="en-US" sz="2500" spc="125" dirty="0">
                <a:solidFill>
                  <a:srgbClr val="343434"/>
                </a:solidFill>
                <a:latin typeface="Times New Roman" panose="02020603050405020304" pitchFamily="18" charset="0"/>
                <a:ea typeface="Telegraf"/>
                <a:cs typeface="Times New Roman" panose="02020603050405020304" pitchFamily="18" charset="0"/>
                <a:sym typeface="Telegraf"/>
              </a:rPr>
              <a:t>Previous works mainly treat routing congestion and self-heating as separate problems. Our work aims to predict both hotspot types early, after initial placement and before detailed routing, and use the combined prediction to guide placement optimization in an ASAP7 </a:t>
            </a:r>
            <a:r>
              <a:rPr lang="en-US" sz="2500" spc="125" dirty="0" err="1">
                <a:solidFill>
                  <a:srgbClr val="343434"/>
                </a:solidFill>
                <a:latin typeface="Times New Roman" panose="02020603050405020304" pitchFamily="18" charset="0"/>
                <a:ea typeface="Telegraf"/>
                <a:cs typeface="Times New Roman" panose="02020603050405020304" pitchFamily="18" charset="0"/>
                <a:sym typeface="Telegraf"/>
              </a:rPr>
              <a:t>FinFET</a:t>
            </a:r>
            <a:r>
              <a:rPr lang="en-US" sz="2500" spc="125" dirty="0">
                <a:solidFill>
                  <a:srgbClr val="343434"/>
                </a:solidFill>
                <a:latin typeface="Times New Roman" panose="02020603050405020304" pitchFamily="18" charset="0"/>
                <a:ea typeface="Telegraf"/>
                <a:cs typeface="Times New Roman" panose="02020603050405020304" pitchFamily="18" charset="0"/>
                <a:sym typeface="Telegraf"/>
              </a:rPr>
              <a:t> design.</a:t>
            </a:r>
          </a:p>
        </p:txBody>
      </p:sp>
      <p:sp>
        <p:nvSpPr>
          <p:cNvPr id="3" name="TextBox 3"/>
          <p:cNvSpPr txBox="1"/>
          <p:nvPr/>
        </p:nvSpPr>
        <p:spPr>
          <a:xfrm>
            <a:off x="514350" y="809625"/>
            <a:ext cx="17259300" cy="1055997"/>
          </a:xfrm>
          <a:prstGeom prst="rect">
            <a:avLst/>
          </a:prstGeom>
        </p:spPr>
        <p:txBody>
          <a:bodyPr lIns="0" tIns="0" rIns="0" bIns="0" rtlCol="0" anchor="t">
            <a:spAutoFit/>
          </a:bodyPr>
          <a:lstStyle/>
          <a:p>
            <a:pPr algn="ctr">
              <a:lnSpc>
                <a:spcPts val="8300"/>
              </a:lnSpc>
              <a:spcBef>
                <a:spcPct val="0"/>
              </a:spcBef>
            </a:pPr>
            <a:r>
              <a:rPr lang="en-US" sz="5533" b="1">
                <a:solidFill>
                  <a:srgbClr val="164B82"/>
                </a:solidFill>
                <a:latin typeface="Telegraf Bold"/>
                <a:ea typeface="Telegraf Bold"/>
                <a:cs typeface="Telegraf Bold"/>
                <a:sym typeface="Telegraf Bold"/>
              </a:rPr>
              <a:t>PREVIOUS RESEARCH AND THE REMAINING GAP</a:t>
            </a: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TextBox 2"/>
          <p:cNvSpPr txBox="1"/>
          <p:nvPr/>
        </p:nvSpPr>
        <p:spPr>
          <a:xfrm>
            <a:off x="0" y="328610"/>
            <a:ext cx="17754600" cy="1828129"/>
          </a:xfrm>
          <a:prstGeom prst="rect">
            <a:avLst/>
          </a:prstGeom>
        </p:spPr>
        <p:txBody>
          <a:bodyPr wrap="square" lIns="0" tIns="0" rIns="0" bIns="0" rtlCol="0" anchor="t">
            <a:spAutoFit/>
          </a:bodyPr>
          <a:lstStyle/>
          <a:p>
            <a:pPr algn="ctr">
              <a:lnSpc>
                <a:spcPts val="7419"/>
              </a:lnSpc>
              <a:spcBef>
                <a:spcPct val="0"/>
              </a:spcBef>
            </a:pPr>
            <a:r>
              <a:rPr lang="en-US" sz="4946" b="1" dirty="0">
                <a:solidFill>
                  <a:srgbClr val="164B82"/>
                </a:solidFill>
                <a:latin typeface="Telegraf Bold"/>
                <a:ea typeface="Telegraf Bold"/>
                <a:cs typeface="Telegraf Bold"/>
                <a:sym typeface="Telegraf Bold"/>
              </a:rPr>
              <a:t>BENCHMARK DESIGN – 8-BIT LOW-POWER PROCESSOR</a:t>
            </a:r>
          </a:p>
        </p:txBody>
      </p:sp>
      <p:sp>
        <p:nvSpPr>
          <p:cNvPr id="3" name="TextBox 3"/>
          <p:cNvSpPr txBox="1"/>
          <p:nvPr/>
        </p:nvSpPr>
        <p:spPr>
          <a:xfrm>
            <a:off x="1028700" y="2318272"/>
            <a:ext cx="16230600" cy="1840707"/>
          </a:xfrm>
          <a:prstGeom prst="rect">
            <a:avLst/>
          </a:prstGeom>
        </p:spPr>
        <p:txBody>
          <a:bodyPr lIns="0" tIns="0" rIns="0" bIns="0" rtlCol="0" anchor="t">
            <a:spAutoFit/>
          </a:bodyPr>
          <a:lstStyle/>
          <a:p>
            <a:pPr marL="526255" lvl="1" indent="-263127" algn="l">
              <a:lnSpc>
                <a:spcPts val="3656"/>
              </a:lnSpc>
              <a:buFont typeface="Arial"/>
              <a:buChar char="•"/>
            </a:pPr>
            <a:r>
              <a:rPr lang="en-US" sz="2437" spc="121" dirty="0">
                <a:solidFill>
                  <a:srgbClr val="343434"/>
                </a:solidFill>
                <a:latin typeface="Times New Roman" panose="02020603050405020304" pitchFamily="18" charset="0"/>
                <a:ea typeface="Telegraf"/>
                <a:cs typeface="Times New Roman" panose="02020603050405020304" pitchFamily="18" charset="0"/>
                <a:sym typeface="Telegraf"/>
              </a:rPr>
              <a:t>8-bit Low-Power Processor — ALU, registers, control unit, program counter, memory, and data paths.</a:t>
            </a:r>
          </a:p>
          <a:p>
            <a:pPr marL="526255" lvl="1" indent="-263127" algn="l">
              <a:lnSpc>
                <a:spcPts val="3656"/>
              </a:lnSpc>
              <a:buFont typeface="Arial"/>
              <a:buChar char="•"/>
            </a:pPr>
            <a:r>
              <a:rPr lang="en-US" sz="2437" spc="121" dirty="0">
                <a:solidFill>
                  <a:srgbClr val="343434"/>
                </a:solidFill>
                <a:latin typeface="Times New Roman" panose="02020603050405020304" pitchFamily="18" charset="0"/>
                <a:ea typeface="Telegraf"/>
                <a:cs typeface="Times New Roman" panose="02020603050405020304" pitchFamily="18" charset="0"/>
                <a:sym typeface="Telegraf"/>
              </a:rPr>
              <a:t>ASAP7 </a:t>
            </a:r>
            <a:r>
              <a:rPr lang="en-US" sz="2437" spc="121" dirty="0" err="1">
                <a:solidFill>
                  <a:srgbClr val="343434"/>
                </a:solidFill>
                <a:latin typeface="Times New Roman" panose="02020603050405020304" pitchFamily="18" charset="0"/>
                <a:ea typeface="Telegraf"/>
                <a:cs typeface="Times New Roman" panose="02020603050405020304" pitchFamily="18" charset="0"/>
                <a:sym typeface="Telegraf"/>
              </a:rPr>
              <a:t>FinFET</a:t>
            </a:r>
            <a:r>
              <a:rPr lang="en-US" sz="2437" spc="121" dirty="0">
                <a:solidFill>
                  <a:srgbClr val="343434"/>
                </a:solidFill>
                <a:latin typeface="Times New Roman" panose="02020603050405020304" pitchFamily="18" charset="0"/>
                <a:ea typeface="Telegraf"/>
                <a:cs typeface="Times New Roman" panose="02020603050405020304" pitchFamily="18" charset="0"/>
                <a:sym typeface="Telegraf"/>
              </a:rPr>
              <a:t> RTL-to-Physical Design Flow — Synthesis → Placement → Routing, with different workloads/switching activities.</a:t>
            </a:r>
          </a:p>
          <a:p>
            <a:pPr marL="526255" lvl="1" indent="-263127" algn="l">
              <a:lnSpc>
                <a:spcPts val="3656"/>
              </a:lnSpc>
              <a:buFont typeface="Arial"/>
              <a:buChar char="•"/>
            </a:pPr>
            <a:r>
              <a:rPr lang="en-US" sz="2437" spc="121" dirty="0">
                <a:solidFill>
                  <a:srgbClr val="343434"/>
                </a:solidFill>
                <a:latin typeface="Times New Roman" panose="02020603050405020304" pitchFamily="18" charset="0"/>
                <a:ea typeface="Telegraf"/>
                <a:cs typeface="Times New Roman" panose="02020603050405020304" pitchFamily="18" charset="0"/>
                <a:sym typeface="Telegraf"/>
              </a:rPr>
              <a:t>Evaluation Metrics — Routing congestion, self-heating/temperature, timing, power, and area.</a:t>
            </a:r>
          </a:p>
        </p:txBody>
      </p:sp>
      <p:sp>
        <p:nvSpPr>
          <p:cNvPr id="4" name="TextBox 4"/>
          <p:cNvSpPr txBox="1"/>
          <p:nvPr/>
        </p:nvSpPr>
        <p:spPr>
          <a:xfrm>
            <a:off x="1028700" y="4898480"/>
            <a:ext cx="9791700" cy="866456"/>
          </a:xfrm>
          <a:prstGeom prst="rect">
            <a:avLst/>
          </a:prstGeom>
        </p:spPr>
        <p:txBody>
          <a:bodyPr wrap="square" lIns="0" tIns="0" rIns="0" bIns="0" rtlCol="0" anchor="t">
            <a:spAutoFit/>
          </a:bodyPr>
          <a:lstStyle/>
          <a:p>
            <a:pPr algn="ctr">
              <a:lnSpc>
                <a:spcPts val="7283"/>
              </a:lnSpc>
              <a:spcBef>
                <a:spcPct val="0"/>
              </a:spcBef>
            </a:pPr>
            <a:r>
              <a:rPr lang="en-US" sz="4855" b="1" dirty="0">
                <a:solidFill>
                  <a:srgbClr val="2F679F"/>
                </a:solidFill>
                <a:latin typeface="Telegraf Bold"/>
                <a:ea typeface="Telegraf Bold"/>
                <a:cs typeface="Telegraf Bold"/>
                <a:sym typeface="Telegraf Bold"/>
              </a:rPr>
              <a:t>WHY THIS BENCHMARK?</a:t>
            </a:r>
          </a:p>
        </p:txBody>
      </p:sp>
      <p:sp>
        <p:nvSpPr>
          <p:cNvPr id="5" name="TextBox 5"/>
          <p:cNvSpPr txBox="1"/>
          <p:nvPr/>
        </p:nvSpPr>
        <p:spPr>
          <a:xfrm>
            <a:off x="1028700" y="6879680"/>
            <a:ext cx="15169010" cy="1419225"/>
          </a:xfrm>
          <a:prstGeom prst="rect">
            <a:avLst/>
          </a:prstGeom>
        </p:spPr>
        <p:txBody>
          <a:bodyPr lIns="0" tIns="0" rIns="0" bIns="0" rtlCol="0" anchor="t">
            <a:spAutoFit/>
          </a:bodyPr>
          <a:lstStyle/>
          <a:p>
            <a:pPr marL="539749" lvl="1" indent="-269875" algn="l">
              <a:lnSpc>
                <a:spcPts val="3749"/>
              </a:lnSpc>
              <a:buFont typeface="Arial"/>
              <a:buChar char="•"/>
            </a:pPr>
            <a:r>
              <a:rPr lang="en-US" sz="2499" spc="124" dirty="0">
                <a:solidFill>
                  <a:srgbClr val="343434"/>
                </a:solidFill>
                <a:latin typeface="Times New Roman" panose="02020603050405020304" pitchFamily="18" charset="0"/>
                <a:ea typeface="Telegraf"/>
                <a:cs typeface="Times New Roman" panose="02020603050405020304" pitchFamily="18" charset="0"/>
                <a:sym typeface="Telegraf"/>
              </a:rPr>
              <a:t>The 8-bit processor provides a realistic combination of logic complexity, different activity levels, and spatially distributed cells, making it suitable for studying both routing congestion and self-heating in the same physical-design environment.</a:t>
            </a:r>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grpSp>
        <p:nvGrpSpPr>
          <p:cNvPr id="2" name="Group 2"/>
          <p:cNvGrpSpPr/>
          <p:nvPr/>
        </p:nvGrpSpPr>
        <p:grpSpPr>
          <a:xfrm>
            <a:off x="666750" y="3612586"/>
            <a:ext cx="4762423" cy="5811699"/>
            <a:chOff x="0" y="0"/>
            <a:chExt cx="1254301" cy="1530653"/>
          </a:xfrm>
        </p:grpSpPr>
        <p:sp>
          <p:nvSpPr>
            <p:cNvPr id="3" name="Freeform 3"/>
            <p:cNvSpPr/>
            <p:nvPr/>
          </p:nvSpPr>
          <p:spPr>
            <a:xfrm>
              <a:off x="0" y="0"/>
              <a:ext cx="1254301" cy="1530653"/>
            </a:xfrm>
            <a:custGeom>
              <a:avLst/>
              <a:gdLst/>
              <a:ahLst/>
              <a:cxnLst/>
              <a:rect l="l" t="t" r="r" b="b"/>
              <a:pathLst>
                <a:path w="1254301" h="1530653">
                  <a:moveTo>
                    <a:pt x="32513" y="0"/>
                  </a:moveTo>
                  <a:lnTo>
                    <a:pt x="1221788" y="0"/>
                  </a:lnTo>
                  <a:cubicBezTo>
                    <a:pt x="1239744" y="0"/>
                    <a:pt x="1254301" y="14556"/>
                    <a:pt x="1254301" y="32513"/>
                  </a:cubicBezTo>
                  <a:lnTo>
                    <a:pt x="1254301" y="1498141"/>
                  </a:lnTo>
                  <a:cubicBezTo>
                    <a:pt x="1254301" y="1516097"/>
                    <a:pt x="1239744" y="1530653"/>
                    <a:pt x="1221788" y="1530653"/>
                  </a:cubicBezTo>
                  <a:lnTo>
                    <a:pt x="32513" y="1530653"/>
                  </a:lnTo>
                  <a:cubicBezTo>
                    <a:pt x="14556" y="1530653"/>
                    <a:pt x="0" y="1516097"/>
                    <a:pt x="0" y="1498141"/>
                  </a:cubicBezTo>
                  <a:lnTo>
                    <a:pt x="0" y="32513"/>
                  </a:lnTo>
                  <a:cubicBezTo>
                    <a:pt x="0" y="14556"/>
                    <a:pt x="14556" y="0"/>
                    <a:pt x="32513" y="0"/>
                  </a:cubicBezTo>
                  <a:close/>
                </a:path>
              </a:pathLst>
            </a:custGeom>
            <a:solidFill>
              <a:srgbClr val="2F679F"/>
            </a:solidFill>
          </p:spPr>
        </p:sp>
        <p:sp>
          <p:nvSpPr>
            <p:cNvPr id="4" name="TextBox 4"/>
            <p:cNvSpPr txBox="1"/>
            <p:nvPr/>
          </p:nvSpPr>
          <p:spPr>
            <a:xfrm>
              <a:off x="0" y="-57150"/>
              <a:ext cx="1254301" cy="1587803"/>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a:off x="6063175" y="3659845"/>
            <a:ext cx="5656353" cy="5858600"/>
            <a:chOff x="0" y="0"/>
            <a:chExt cx="1489739" cy="1543006"/>
          </a:xfrm>
        </p:grpSpPr>
        <p:sp>
          <p:nvSpPr>
            <p:cNvPr id="6" name="Freeform 6"/>
            <p:cNvSpPr/>
            <p:nvPr/>
          </p:nvSpPr>
          <p:spPr>
            <a:xfrm>
              <a:off x="0" y="0"/>
              <a:ext cx="1489739" cy="1543006"/>
            </a:xfrm>
            <a:custGeom>
              <a:avLst/>
              <a:gdLst/>
              <a:ahLst/>
              <a:cxnLst/>
              <a:rect l="l" t="t" r="r" b="b"/>
              <a:pathLst>
                <a:path w="1489739" h="1543006">
                  <a:moveTo>
                    <a:pt x="27374" y="0"/>
                  </a:moveTo>
                  <a:lnTo>
                    <a:pt x="1462365" y="0"/>
                  </a:lnTo>
                  <a:cubicBezTo>
                    <a:pt x="1477483" y="0"/>
                    <a:pt x="1489739" y="12256"/>
                    <a:pt x="1489739" y="27374"/>
                  </a:cubicBezTo>
                  <a:lnTo>
                    <a:pt x="1489739" y="1515632"/>
                  </a:lnTo>
                  <a:cubicBezTo>
                    <a:pt x="1489739" y="1522892"/>
                    <a:pt x="1486855" y="1529854"/>
                    <a:pt x="1481721" y="1534988"/>
                  </a:cubicBezTo>
                  <a:cubicBezTo>
                    <a:pt x="1476588" y="1540122"/>
                    <a:pt x="1469625" y="1543006"/>
                    <a:pt x="1462365" y="1543006"/>
                  </a:cubicBezTo>
                  <a:lnTo>
                    <a:pt x="27374" y="1543006"/>
                  </a:lnTo>
                  <a:cubicBezTo>
                    <a:pt x="12256" y="1543006"/>
                    <a:pt x="0" y="1530750"/>
                    <a:pt x="0" y="1515632"/>
                  </a:cubicBezTo>
                  <a:lnTo>
                    <a:pt x="0" y="27374"/>
                  </a:lnTo>
                  <a:cubicBezTo>
                    <a:pt x="0" y="12256"/>
                    <a:pt x="12256" y="0"/>
                    <a:pt x="27374" y="0"/>
                  </a:cubicBezTo>
                  <a:close/>
                </a:path>
              </a:pathLst>
            </a:custGeom>
            <a:solidFill>
              <a:srgbClr val="699ACD"/>
            </a:solidFill>
          </p:spPr>
        </p:sp>
        <p:sp>
          <p:nvSpPr>
            <p:cNvPr id="7" name="TextBox 7"/>
            <p:cNvSpPr txBox="1"/>
            <p:nvPr/>
          </p:nvSpPr>
          <p:spPr>
            <a:xfrm>
              <a:off x="0" y="-57150"/>
              <a:ext cx="1489739" cy="1600156"/>
            </a:xfrm>
            <a:prstGeom prst="rect">
              <a:avLst/>
            </a:prstGeom>
          </p:spPr>
          <p:txBody>
            <a:bodyPr lIns="50800" tIns="50800" rIns="50800" bIns="50800" rtlCol="0" anchor="ctr"/>
            <a:lstStyle/>
            <a:p>
              <a:pPr algn="ctr">
                <a:lnSpc>
                  <a:spcPts val="1960"/>
                </a:lnSpc>
              </a:pPr>
              <a:endParaRPr/>
            </a:p>
          </p:txBody>
        </p:sp>
      </p:grpSp>
      <p:grpSp>
        <p:nvGrpSpPr>
          <p:cNvPr id="8" name="Group 8"/>
          <p:cNvGrpSpPr/>
          <p:nvPr/>
        </p:nvGrpSpPr>
        <p:grpSpPr>
          <a:xfrm>
            <a:off x="12107628" y="3612586"/>
            <a:ext cx="5151672" cy="5645714"/>
            <a:chOff x="0" y="0"/>
            <a:chExt cx="1356819" cy="1486937"/>
          </a:xfrm>
        </p:grpSpPr>
        <p:sp>
          <p:nvSpPr>
            <p:cNvPr id="9" name="Freeform 9"/>
            <p:cNvSpPr/>
            <p:nvPr/>
          </p:nvSpPr>
          <p:spPr>
            <a:xfrm>
              <a:off x="0" y="0"/>
              <a:ext cx="1356819" cy="1486937"/>
            </a:xfrm>
            <a:custGeom>
              <a:avLst/>
              <a:gdLst/>
              <a:ahLst/>
              <a:cxnLst/>
              <a:rect l="l" t="t" r="r" b="b"/>
              <a:pathLst>
                <a:path w="1356819" h="1486937">
                  <a:moveTo>
                    <a:pt x="30056" y="0"/>
                  </a:moveTo>
                  <a:lnTo>
                    <a:pt x="1326763" y="0"/>
                  </a:lnTo>
                  <a:cubicBezTo>
                    <a:pt x="1343362" y="0"/>
                    <a:pt x="1356819" y="13457"/>
                    <a:pt x="1356819" y="30056"/>
                  </a:cubicBezTo>
                  <a:lnTo>
                    <a:pt x="1356819" y="1456881"/>
                  </a:lnTo>
                  <a:cubicBezTo>
                    <a:pt x="1356819" y="1464852"/>
                    <a:pt x="1353652" y="1472497"/>
                    <a:pt x="1348016" y="1478134"/>
                  </a:cubicBezTo>
                  <a:cubicBezTo>
                    <a:pt x="1342379" y="1483770"/>
                    <a:pt x="1334734" y="1486937"/>
                    <a:pt x="1326763" y="1486937"/>
                  </a:cubicBezTo>
                  <a:lnTo>
                    <a:pt x="30056" y="1486937"/>
                  </a:lnTo>
                  <a:cubicBezTo>
                    <a:pt x="22085" y="1486937"/>
                    <a:pt x="14440" y="1483770"/>
                    <a:pt x="8803" y="1478134"/>
                  </a:cubicBezTo>
                  <a:cubicBezTo>
                    <a:pt x="3167" y="1472497"/>
                    <a:pt x="0" y="1464852"/>
                    <a:pt x="0" y="1456881"/>
                  </a:cubicBezTo>
                  <a:lnTo>
                    <a:pt x="0" y="30056"/>
                  </a:lnTo>
                  <a:cubicBezTo>
                    <a:pt x="0" y="22085"/>
                    <a:pt x="3167" y="14440"/>
                    <a:pt x="8803" y="8803"/>
                  </a:cubicBezTo>
                  <a:cubicBezTo>
                    <a:pt x="14440" y="3167"/>
                    <a:pt x="22085" y="0"/>
                    <a:pt x="30056" y="0"/>
                  </a:cubicBezTo>
                  <a:close/>
                </a:path>
              </a:pathLst>
            </a:custGeom>
            <a:solidFill>
              <a:srgbClr val="699ACD"/>
            </a:solidFill>
          </p:spPr>
        </p:sp>
        <p:sp>
          <p:nvSpPr>
            <p:cNvPr id="10" name="TextBox 10"/>
            <p:cNvSpPr txBox="1"/>
            <p:nvPr/>
          </p:nvSpPr>
          <p:spPr>
            <a:xfrm>
              <a:off x="0" y="-57150"/>
              <a:ext cx="1356819" cy="1544087"/>
            </a:xfrm>
            <a:prstGeom prst="rect">
              <a:avLst/>
            </a:prstGeom>
          </p:spPr>
          <p:txBody>
            <a:bodyPr lIns="50800" tIns="50800" rIns="50800" bIns="50800" rtlCol="0" anchor="ctr"/>
            <a:lstStyle/>
            <a:p>
              <a:pPr algn="ctr">
                <a:lnSpc>
                  <a:spcPts val="1960"/>
                </a:lnSpc>
              </a:pPr>
              <a:endParaRPr/>
            </a:p>
          </p:txBody>
        </p:sp>
      </p:grpSp>
      <p:grpSp>
        <p:nvGrpSpPr>
          <p:cNvPr id="11" name="Group 11"/>
          <p:cNvGrpSpPr/>
          <p:nvPr/>
        </p:nvGrpSpPr>
        <p:grpSpPr>
          <a:xfrm>
            <a:off x="814483" y="3898336"/>
            <a:ext cx="711200" cy="711200"/>
            <a:chOff x="0" y="0"/>
            <a:chExt cx="948267" cy="948267"/>
          </a:xfrm>
        </p:grpSpPr>
        <p:grpSp>
          <p:nvGrpSpPr>
            <p:cNvPr id="12" name="Group 12"/>
            <p:cNvGrpSpPr/>
            <p:nvPr/>
          </p:nvGrpSpPr>
          <p:grpSpPr>
            <a:xfrm>
              <a:off x="0" y="0"/>
              <a:ext cx="948267" cy="94826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7FA"/>
              </a:solidFill>
              <a:ln cap="sq">
                <a:noFill/>
                <a:prstDash val="solid"/>
                <a:miter/>
              </a:ln>
            </p:spPr>
          </p:sp>
          <p:sp>
            <p:nvSpPr>
              <p:cNvPr id="14" name="TextBox 14"/>
              <p:cNvSpPr txBox="1"/>
              <p:nvPr/>
            </p:nvSpPr>
            <p:spPr>
              <a:xfrm>
                <a:off x="76200" y="19050"/>
                <a:ext cx="660400" cy="717550"/>
              </a:xfrm>
              <a:prstGeom prst="rect">
                <a:avLst/>
              </a:prstGeom>
            </p:spPr>
            <p:txBody>
              <a:bodyPr lIns="38443" tIns="38443" rIns="38443" bIns="38443" rtlCol="0" anchor="ctr"/>
              <a:lstStyle/>
              <a:p>
                <a:pPr marL="0" lvl="0" indent="0" algn="ctr">
                  <a:lnSpc>
                    <a:spcPts val="1960"/>
                  </a:lnSpc>
                  <a:spcBef>
                    <a:spcPct val="0"/>
                  </a:spcBef>
                </a:pPr>
                <a:endParaRPr/>
              </a:p>
            </p:txBody>
          </p:sp>
        </p:grpSp>
        <p:sp>
          <p:nvSpPr>
            <p:cNvPr id="15" name="TextBox 15"/>
            <p:cNvSpPr txBox="1"/>
            <p:nvPr/>
          </p:nvSpPr>
          <p:spPr>
            <a:xfrm>
              <a:off x="0" y="34134"/>
              <a:ext cx="948267" cy="694521"/>
            </a:xfrm>
            <a:prstGeom prst="rect">
              <a:avLst/>
            </a:prstGeom>
          </p:spPr>
          <p:txBody>
            <a:bodyPr lIns="0" tIns="0" rIns="0" bIns="0" rtlCol="0" anchor="t">
              <a:spAutoFit/>
            </a:bodyPr>
            <a:lstStyle/>
            <a:p>
              <a:pPr algn="ctr">
                <a:lnSpc>
                  <a:spcPts val="4395"/>
                </a:lnSpc>
              </a:pPr>
              <a:r>
                <a:rPr lang="en-US" sz="2799" spc="67">
                  <a:solidFill>
                    <a:srgbClr val="164B82"/>
                  </a:solidFill>
                  <a:latin typeface="Telegraf"/>
                  <a:ea typeface="Telegraf"/>
                  <a:cs typeface="Telegraf"/>
                  <a:sym typeface="Telegraf"/>
                </a:rPr>
                <a:t>1</a:t>
              </a:r>
            </a:p>
          </p:txBody>
        </p:sp>
      </p:grpSp>
      <p:grpSp>
        <p:nvGrpSpPr>
          <p:cNvPr id="16" name="Group 16"/>
          <p:cNvGrpSpPr/>
          <p:nvPr/>
        </p:nvGrpSpPr>
        <p:grpSpPr>
          <a:xfrm>
            <a:off x="6461056" y="3898336"/>
            <a:ext cx="711200" cy="711200"/>
            <a:chOff x="0" y="0"/>
            <a:chExt cx="948267" cy="948267"/>
          </a:xfrm>
        </p:grpSpPr>
        <p:grpSp>
          <p:nvGrpSpPr>
            <p:cNvPr id="17" name="Group 17"/>
            <p:cNvGrpSpPr/>
            <p:nvPr/>
          </p:nvGrpSpPr>
          <p:grpSpPr>
            <a:xfrm>
              <a:off x="0" y="0"/>
              <a:ext cx="948267" cy="94826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7FA"/>
              </a:solidFill>
              <a:ln cap="sq">
                <a:noFill/>
                <a:prstDash val="solid"/>
                <a:miter/>
              </a:ln>
            </p:spPr>
          </p:sp>
          <p:sp>
            <p:nvSpPr>
              <p:cNvPr id="19" name="TextBox 19"/>
              <p:cNvSpPr txBox="1"/>
              <p:nvPr/>
            </p:nvSpPr>
            <p:spPr>
              <a:xfrm>
                <a:off x="76200" y="19050"/>
                <a:ext cx="660400" cy="717550"/>
              </a:xfrm>
              <a:prstGeom prst="rect">
                <a:avLst/>
              </a:prstGeom>
            </p:spPr>
            <p:txBody>
              <a:bodyPr lIns="38443" tIns="38443" rIns="38443" bIns="38443" rtlCol="0" anchor="ctr"/>
              <a:lstStyle/>
              <a:p>
                <a:pPr marL="0" lvl="0" indent="0" algn="ctr">
                  <a:lnSpc>
                    <a:spcPts val="1960"/>
                  </a:lnSpc>
                  <a:spcBef>
                    <a:spcPct val="0"/>
                  </a:spcBef>
                </a:pPr>
                <a:endParaRPr/>
              </a:p>
            </p:txBody>
          </p:sp>
        </p:grpSp>
        <p:sp>
          <p:nvSpPr>
            <p:cNvPr id="20" name="TextBox 20"/>
            <p:cNvSpPr txBox="1"/>
            <p:nvPr/>
          </p:nvSpPr>
          <p:spPr>
            <a:xfrm>
              <a:off x="0" y="34134"/>
              <a:ext cx="948267" cy="694521"/>
            </a:xfrm>
            <a:prstGeom prst="rect">
              <a:avLst/>
            </a:prstGeom>
          </p:spPr>
          <p:txBody>
            <a:bodyPr lIns="0" tIns="0" rIns="0" bIns="0" rtlCol="0" anchor="t">
              <a:spAutoFit/>
            </a:bodyPr>
            <a:lstStyle/>
            <a:p>
              <a:pPr algn="ctr">
                <a:lnSpc>
                  <a:spcPts val="4395"/>
                </a:lnSpc>
              </a:pPr>
              <a:r>
                <a:rPr lang="en-US" sz="2799" spc="67">
                  <a:solidFill>
                    <a:srgbClr val="164B82"/>
                  </a:solidFill>
                  <a:latin typeface="Telegraf"/>
                  <a:ea typeface="Telegraf"/>
                  <a:cs typeface="Telegraf"/>
                  <a:sym typeface="Telegraf"/>
                </a:rPr>
                <a:t>2</a:t>
              </a:r>
            </a:p>
          </p:txBody>
        </p:sp>
      </p:grpSp>
      <p:grpSp>
        <p:nvGrpSpPr>
          <p:cNvPr id="21" name="Group 21"/>
          <p:cNvGrpSpPr/>
          <p:nvPr/>
        </p:nvGrpSpPr>
        <p:grpSpPr>
          <a:xfrm>
            <a:off x="12457203" y="3898336"/>
            <a:ext cx="711200" cy="711200"/>
            <a:chOff x="0" y="0"/>
            <a:chExt cx="948267" cy="948267"/>
          </a:xfrm>
        </p:grpSpPr>
        <p:grpSp>
          <p:nvGrpSpPr>
            <p:cNvPr id="22" name="Group 22"/>
            <p:cNvGrpSpPr/>
            <p:nvPr/>
          </p:nvGrpSpPr>
          <p:grpSpPr>
            <a:xfrm>
              <a:off x="0" y="0"/>
              <a:ext cx="948267" cy="94826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7FA"/>
              </a:solidFill>
              <a:ln cap="sq">
                <a:noFill/>
                <a:prstDash val="solid"/>
                <a:miter/>
              </a:ln>
            </p:spPr>
          </p:sp>
          <p:sp>
            <p:nvSpPr>
              <p:cNvPr id="24" name="TextBox 24"/>
              <p:cNvSpPr txBox="1"/>
              <p:nvPr/>
            </p:nvSpPr>
            <p:spPr>
              <a:xfrm>
                <a:off x="76200" y="19050"/>
                <a:ext cx="660400" cy="717550"/>
              </a:xfrm>
              <a:prstGeom prst="rect">
                <a:avLst/>
              </a:prstGeom>
            </p:spPr>
            <p:txBody>
              <a:bodyPr lIns="38443" tIns="38443" rIns="38443" bIns="38443" rtlCol="0" anchor="ctr"/>
              <a:lstStyle/>
              <a:p>
                <a:pPr marL="0" lvl="0" indent="0" algn="ctr">
                  <a:lnSpc>
                    <a:spcPts val="1960"/>
                  </a:lnSpc>
                  <a:spcBef>
                    <a:spcPct val="0"/>
                  </a:spcBef>
                </a:pPr>
                <a:endParaRPr/>
              </a:p>
            </p:txBody>
          </p:sp>
        </p:grpSp>
        <p:sp>
          <p:nvSpPr>
            <p:cNvPr id="25" name="TextBox 25"/>
            <p:cNvSpPr txBox="1"/>
            <p:nvPr/>
          </p:nvSpPr>
          <p:spPr>
            <a:xfrm>
              <a:off x="0" y="34134"/>
              <a:ext cx="948267" cy="694521"/>
            </a:xfrm>
            <a:prstGeom prst="rect">
              <a:avLst/>
            </a:prstGeom>
          </p:spPr>
          <p:txBody>
            <a:bodyPr lIns="0" tIns="0" rIns="0" bIns="0" rtlCol="0" anchor="t">
              <a:spAutoFit/>
            </a:bodyPr>
            <a:lstStyle/>
            <a:p>
              <a:pPr algn="ctr">
                <a:lnSpc>
                  <a:spcPts val="4395"/>
                </a:lnSpc>
              </a:pPr>
              <a:r>
                <a:rPr lang="en-US" sz="2799" spc="67">
                  <a:solidFill>
                    <a:srgbClr val="164B82"/>
                  </a:solidFill>
                  <a:latin typeface="Telegraf"/>
                  <a:ea typeface="Telegraf"/>
                  <a:cs typeface="Telegraf"/>
                  <a:sym typeface="Telegraf"/>
                </a:rPr>
                <a:t>3</a:t>
              </a:r>
            </a:p>
          </p:txBody>
        </p:sp>
      </p:grpSp>
      <p:sp>
        <p:nvSpPr>
          <p:cNvPr id="26" name="TextBox 26"/>
          <p:cNvSpPr txBox="1"/>
          <p:nvPr/>
        </p:nvSpPr>
        <p:spPr>
          <a:xfrm>
            <a:off x="814483" y="4823848"/>
            <a:ext cx="4614691" cy="1289685"/>
          </a:xfrm>
          <a:prstGeom prst="rect">
            <a:avLst/>
          </a:prstGeom>
        </p:spPr>
        <p:txBody>
          <a:bodyPr lIns="0" tIns="0" rIns="0" bIns="0" rtlCol="0" anchor="t">
            <a:spAutoFit/>
          </a:bodyPr>
          <a:lstStyle/>
          <a:p>
            <a:pPr algn="l">
              <a:lnSpc>
                <a:spcPts val="5040"/>
              </a:lnSpc>
            </a:pPr>
            <a:r>
              <a:rPr lang="en-US" sz="3600" spc="86">
                <a:solidFill>
                  <a:srgbClr val="F2F7FA"/>
                </a:solidFill>
                <a:latin typeface="Telegraf"/>
                <a:ea typeface="Telegraf"/>
                <a:cs typeface="Telegraf"/>
                <a:sym typeface="Telegraf"/>
              </a:rPr>
              <a:t>BENCHMARK &amp; PHYSICAL DESIGN</a:t>
            </a:r>
          </a:p>
        </p:txBody>
      </p:sp>
      <p:sp>
        <p:nvSpPr>
          <p:cNvPr id="27" name="TextBox 27"/>
          <p:cNvSpPr txBox="1"/>
          <p:nvPr/>
        </p:nvSpPr>
        <p:spPr>
          <a:xfrm>
            <a:off x="12376119" y="4779680"/>
            <a:ext cx="4614691" cy="1289685"/>
          </a:xfrm>
          <a:prstGeom prst="rect">
            <a:avLst/>
          </a:prstGeom>
        </p:spPr>
        <p:txBody>
          <a:bodyPr lIns="0" tIns="0" rIns="0" bIns="0" rtlCol="0" anchor="t">
            <a:spAutoFit/>
          </a:bodyPr>
          <a:lstStyle/>
          <a:p>
            <a:pPr algn="l">
              <a:lnSpc>
                <a:spcPts val="5040"/>
              </a:lnSpc>
            </a:pPr>
            <a:r>
              <a:rPr lang="en-US" sz="3600" spc="86">
                <a:solidFill>
                  <a:srgbClr val="F2F7FA"/>
                </a:solidFill>
                <a:latin typeface="Telegraf"/>
                <a:ea typeface="Telegraf"/>
                <a:cs typeface="Telegraf"/>
                <a:sym typeface="Telegraf"/>
              </a:rPr>
              <a:t>PERFORMANCE EVALUATION</a:t>
            </a:r>
          </a:p>
        </p:txBody>
      </p:sp>
      <p:sp>
        <p:nvSpPr>
          <p:cNvPr id="28" name="TextBox 28"/>
          <p:cNvSpPr txBox="1"/>
          <p:nvPr/>
        </p:nvSpPr>
        <p:spPr>
          <a:xfrm>
            <a:off x="1028700" y="962025"/>
            <a:ext cx="5921591" cy="1057275"/>
          </a:xfrm>
          <a:prstGeom prst="rect">
            <a:avLst/>
          </a:prstGeom>
        </p:spPr>
        <p:txBody>
          <a:bodyPr lIns="0" tIns="0" rIns="0" bIns="0" rtlCol="0" anchor="t">
            <a:spAutoFit/>
          </a:bodyPr>
          <a:lstStyle/>
          <a:p>
            <a:pPr marL="0" lvl="0" indent="0" algn="ctr">
              <a:lnSpc>
                <a:spcPts val="7800"/>
              </a:lnSpc>
              <a:spcBef>
                <a:spcPct val="0"/>
              </a:spcBef>
            </a:pPr>
            <a:r>
              <a:rPr lang="en-US" sz="6500" b="1">
                <a:solidFill>
                  <a:srgbClr val="343434"/>
                </a:solidFill>
                <a:latin typeface="Telegraf Bold"/>
                <a:ea typeface="Telegraf Bold"/>
                <a:cs typeface="Telegraf Bold"/>
                <a:sym typeface="Telegraf Bold"/>
              </a:rPr>
              <a:t>AGENDA</a:t>
            </a:r>
          </a:p>
        </p:txBody>
      </p:sp>
      <p:sp>
        <p:nvSpPr>
          <p:cNvPr id="29" name="TextBox 29"/>
          <p:cNvSpPr txBox="1"/>
          <p:nvPr/>
        </p:nvSpPr>
        <p:spPr>
          <a:xfrm>
            <a:off x="666749" y="7275443"/>
            <a:ext cx="4529974" cy="1391611"/>
          </a:xfrm>
          <a:prstGeom prst="rect">
            <a:avLst/>
          </a:prstGeom>
        </p:spPr>
        <p:txBody>
          <a:bodyPr lIns="0" tIns="0" rIns="0" bIns="0" rtlCol="0" anchor="t">
            <a:spAutoFit/>
          </a:bodyPr>
          <a:lstStyle/>
          <a:p>
            <a:pPr algn="ctr">
              <a:lnSpc>
                <a:spcPts val="3622"/>
              </a:lnSpc>
              <a:spcBef>
                <a:spcPct val="0"/>
              </a:spcBef>
            </a:pPr>
            <a:r>
              <a:rPr lang="en-US" sz="2587" spc="62" dirty="0">
                <a:solidFill>
                  <a:srgbClr val="F2F7FA"/>
                </a:solidFill>
                <a:latin typeface="Telegraf"/>
                <a:ea typeface="Telegraf"/>
                <a:cs typeface="Telegraf"/>
                <a:sym typeface="Telegraf"/>
              </a:rPr>
              <a:t>8-bit processor → asap7 synthesis, placement and routing.</a:t>
            </a:r>
          </a:p>
        </p:txBody>
      </p:sp>
      <p:sp>
        <p:nvSpPr>
          <p:cNvPr id="30" name="TextBox 30"/>
          <p:cNvSpPr txBox="1"/>
          <p:nvPr/>
        </p:nvSpPr>
        <p:spPr>
          <a:xfrm>
            <a:off x="6461055" y="4662653"/>
            <a:ext cx="4614691" cy="1472834"/>
          </a:xfrm>
          <a:prstGeom prst="rect">
            <a:avLst/>
          </a:prstGeom>
        </p:spPr>
        <p:txBody>
          <a:bodyPr lIns="0" tIns="0" rIns="0" bIns="0" rtlCol="0" anchor="t">
            <a:spAutoFit/>
          </a:bodyPr>
          <a:lstStyle/>
          <a:p>
            <a:pPr algn="l">
              <a:lnSpc>
                <a:spcPts val="3870"/>
              </a:lnSpc>
            </a:pPr>
            <a:r>
              <a:rPr lang="en-US" sz="2764" spc="66" dirty="0">
                <a:solidFill>
                  <a:srgbClr val="F2F7FA"/>
                </a:solidFill>
                <a:latin typeface="Telegraf"/>
                <a:ea typeface="Telegraf"/>
                <a:cs typeface="Telegraf"/>
                <a:sym typeface="Telegraf"/>
              </a:rPr>
              <a:t>ML HOTSPOT PREDICTION &amp; PLACEMENT OPTIMIZATION</a:t>
            </a:r>
          </a:p>
        </p:txBody>
      </p:sp>
      <p:sp>
        <p:nvSpPr>
          <p:cNvPr id="31" name="TextBox 31"/>
          <p:cNvSpPr txBox="1"/>
          <p:nvPr/>
        </p:nvSpPr>
        <p:spPr>
          <a:xfrm>
            <a:off x="6781800" y="7277100"/>
            <a:ext cx="3841750" cy="1394549"/>
          </a:xfrm>
          <a:prstGeom prst="rect">
            <a:avLst/>
          </a:prstGeom>
        </p:spPr>
        <p:txBody>
          <a:bodyPr wrap="square" lIns="0" tIns="0" rIns="0" bIns="0" rtlCol="0" anchor="t">
            <a:spAutoFit/>
          </a:bodyPr>
          <a:lstStyle/>
          <a:p>
            <a:pPr algn="ctr">
              <a:lnSpc>
                <a:spcPts val="3709"/>
              </a:lnSpc>
              <a:spcBef>
                <a:spcPct val="0"/>
              </a:spcBef>
            </a:pPr>
            <a:r>
              <a:rPr lang="en-US" sz="2649" spc="63" dirty="0">
                <a:solidFill>
                  <a:srgbClr val="F2F7FA"/>
                </a:solidFill>
                <a:latin typeface="Telegraf"/>
                <a:ea typeface="Telegraf"/>
                <a:cs typeface="Telegraf"/>
                <a:sym typeface="Telegraf"/>
              </a:rPr>
              <a:t>Predict congestion and self-heating hotspots and refine placement.</a:t>
            </a:r>
          </a:p>
        </p:txBody>
      </p:sp>
      <p:sp>
        <p:nvSpPr>
          <p:cNvPr id="32" name="TextBox 32"/>
          <p:cNvSpPr txBox="1"/>
          <p:nvPr/>
        </p:nvSpPr>
        <p:spPr>
          <a:xfrm>
            <a:off x="12457203" y="6504764"/>
            <a:ext cx="4384829" cy="2406300"/>
          </a:xfrm>
          <a:prstGeom prst="rect">
            <a:avLst/>
          </a:prstGeom>
        </p:spPr>
        <p:txBody>
          <a:bodyPr wrap="square" lIns="0" tIns="0" rIns="0" bIns="0" rtlCol="0" anchor="t">
            <a:spAutoFit/>
          </a:bodyPr>
          <a:lstStyle/>
          <a:p>
            <a:pPr algn="ctr">
              <a:lnSpc>
                <a:spcPts val="3787"/>
              </a:lnSpc>
              <a:spcBef>
                <a:spcPct val="0"/>
              </a:spcBef>
            </a:pPr>
            <a:r>
              <a:rPr lang="en-US" sz="2705" spc="64" dirty="0">
                <a:solidFill>
                  <a:srgbClr val="F2F7FA"/>
                </a:solidFill>
                <a:latin typeface="Telegraf"/>
                <a:ea typeface="Telegraf"/>
                <a:cs typeface="Telegraf"/>
                <a:sym typeface="Telegraf"/>
              </a:rPr>
              <a:t>Compare power, timing, area, congestion, and temperature before and after optimization for different designs.</a:t>
            </a: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a:off x="7531007" y="1785070"/>
            <a:ext cx="10075289" cy="6716860"/>
          </a:xfrm>
          <a:custGeom>
            <a:avLst/>
            <a:gdLst/>
            <a:ahLst/>
            <a:cxnLst/>
            <a:rect l="l" t="t" r="r" b="b"/>
            <a:pathLst>
              <a:path w="10075289" h="6716860">
                <a:moveTo>
                  <a:pt x="0" y="0"/>
                </a:moveTo>
                <a:lnTo>
                  <a:pt x="10075290" y="0"/>
                </a:lnTo>
                <a:lnTo>
                  <a:pt x="10075290" y="6716860"/>
                </a:lnTo>
                <a:lnTo>
                  <a:pt x="0" y="6716860"/>
                </a:lnTo>
                <a:lnTo>
                  <a:pt x="0" y="0"/>
                </a:lnTo>
                <a:close/>
              </a:path>
            </a:pathLst>
          </a:custGeom>
          <a:blipFill>
            <a:blip r:embed="rId2"/>
            <a:stretch>
              <a:fillRect/>
            </a:stretch>
          </a:blipFill>
        </p:spPr>
      </p:sp>
      <p:sp>
        <p:nvSpPr>
          <p:cNvPr id="3" name="TextBox 3"/>
          <p:cNvSpPr txBox="1"/>
          <p:nvPr/>
        </p:nvSpPr>
        <p:spPr>
          <a:xfrm>
            <a:off x="1614565" y="119377"/>
            <a:ext cx="4805462" cy="9912714"/>
          </a:xfrm>
          <a:prstGeom prst="rect">
            <a:avLst/>
          </a:prstGeom>
        </p:spPr>
        <p:txBody>
          <a:bodyPr lIns="0" tIns="0" rIns="0" bIns="0" rtlCol="0" anchor="t">
            <a:spAutoFit/>
          </a:bodyPr>
          <a:lstStyle/>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Initial Placement</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Feature Extraction</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 Cell Density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 Connectivity/Fanout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 Routing Demand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 Switching Activity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 Power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Generate Ground Truth</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Congestion Map             Thermal/SHE Map</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Train ML Model</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Predict Hotspots</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Congestion Hotspot        SHE Hotspot</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Placement Refinement</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a:t>
            </a:r>
          </a:p>
          <a:p>
            <a:pPr algn="ctr">
              <a:lnSpc>
                <a:spcPts val="2528"/>
              </a:lnSpc>
              <a:spcBef>
                <a:spcPct val="0"/>
              </a:spcBef>
            </a:pPr>
            <a:r>
              <a:rPr lang="en-US" sz="1805" spc="90" dirty="0">
                <a:solidFill>
                  <a:schemeClr val="tx2"/>
                </a:solidFill>
                <a:latin typeface="Times New Roman" panose="02020603050405020304" pitchFamily="18" charset="0"/>
                <a:ea typeface="Telegraf"/>
                <a:cs typeface="Times New Roman" panose="02020603050405020304" pitchFamily="18" charset="0"/>
                <a:sym typeface="Telegraf"/>
              </a:rPr>
              <a:t>                Re-run PD</a:t>
            </a:r>
          </a:p>
        </p:txBody>
      </p:sp>
      <p:sp>
        <p:nvSpPr>
          <p:cNvPr id="4" name="TextBox 4"/>
          <p:cNvSpPr txBox="1"/>
          <p:nvPr/>
        </p:nvSpPr>
        <p:spPr>
          <a:xfrm>
            <a:off x="9144000" y="119377"/>
            <a:ext cx="7848600" cy="920508"/>
          </a:xfrm>
          <a:prstGeom prst="rect">
            <a:avLst/>
          </a:prstGeom>
        </p:spPr>
        <p:txBody>
          <a:bodyPr wrap="square" lIns="0" tIns="0" rIns="0" bIns="0" rtlCol="0" anchor="t">
            <a:spAutoFit/>
          </a:bodyPr>
          <a:lstStyle/>
          <a:p>
            <a:pPr marL="0" lvl="0" indent="0" algn="ctr">
              <a:lnSpc>
                <a:spcPts val="7399"/>
              </a:lnSpc>
              <a:spcBef>
                <a:spcPct val="0"/>
              </a:spcBef>
            </a:pPr>
            <a:r>
              <a:rPr lang="en-US" sz="6166" b="1" dirty="0">
                <a:solidFill>
                  <a:srgbClr val="164B82"/>
                </a:solidFill>
                <a:latin typeface="Telegraf Bold"/>
                <a:ea typeface="Telegraf Bold"/>
                <a:cs typeface="Telegraf Bold"/>
                <a:sym typeface="Telegraf Bold"/>
              </a:rPr>
              <a:t>IMPLEMENTATION</a:t>
            </a:r>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a:off x="7475453" y="3329709"/>
            <a:ext cx="9783847" cy="4498491"/>
          </a:xfrm>
          <a:custGeom>
            <a:avLst/>
            <a:gdLst/>
            <a:ahLst/>
            <a:cxnLst/>
            <a:rect l="l" t="t" r="r" b="b"/>
            <a:pathLst>
              <a:path w="9783847" h="4498491">
                <a:moveTo>
                  <a:pt x="0" y="0"/>
                </a:moveTo>
                <a:lnTo>
                  <a:pt x="9783847" y="0"/>
                </a:lnTo>
                <a:lnTo>
                  <a:pt x="9783847" y="4498491"/>
                </a:lnTo>
                <a:lnTo>
                  <a:pt x="0" y="4498491"/>
                </a:lnTo>
                <a:lnTo>
                  <a:pt x="0" y="0"/>
                </a:lnTo>
                <a:close/>
              </a:path>
            </a:pathLst>
          </a:custGeom>
          <a:blipFill>
            <a:blip r:embed="rId2"/>
            <a:stretch>
              <a:fillRect/>
            </a:stretch>
          </a:blipFill>
        </p:spPr>
      </p:sp>
      <p:sp>
        <p:nvSpPr>
          <p:cNvPr id="3" name="TextBox 3"/>
          <p:cNvSpPr txBox="1"/>
          <p:nvPr/>
        </p:nvSpPr>
        <p:spPr>
          <a:xfrm>
            <a:off x="549587" y="433388"/>
            <a:ext cx="11871013" cy="1051570"/>
          </a:xfrm>
          <a:prstGeom prst="rect">
            <a:avLst/>
          </a:prstGeom>
        </p:spPr>
        <p:txBody>
          <a:bodyPr wrap="square" lIns="0" tIns="0" rIns="0" bIns="0" rtlCol="0" anchor="t">
            <a:spAutoFit/>
          </a:bodyPr>
          <a:lstStyle/>
          <a:p>
            <a:pPr marL="0" lvl="0" indent="0" algn="ctr">
              <a:lnSpc>
                <a:spcPts val="8211"/>
              </a:lnSpc>
              <a:spcBef>
                <a:spcPct val="0"/>
              </a:spcBef>
            </a:pPr>
            <a:r>
              <a:rPr lang="en-US" sz="6842" b="1" dirty="0">
                <a:solidFill>
                  <a:srgbClr val="164B82"/>
                </a:solidFill>
                <a:latin typeface="Telegraf Bold"/>
                <a:ea typeface="Telegraf Bold"/>
                <a:cs typeface="Telegraf Bold"/>
                <a:sym typeface="Telegraf Bold"/>
              </a:rPr>
              <a:t>WHAT IF TIME PERMITS!</a:t>
            </a:r>
          </a:p>
        </p:txBody>
      </p:sp>
      <p:sp>
        <p:nvSpPr>
          <p:cNvPr id="4" name="TextBox 4"/>
          <p:cNvSpPr txBox="1"/>
          <p:nvPr/>
        </p:nvSpPr>
        <p:spPr>
          <a:xfrm>
            <a:off x="990600" y="1484958"/>
            <a:ext cx="12282005" cy="853679"/>
          </a:xfrm>
          <a:prstGeom prst="rect">
            <a:avLst/>
          </a:prstGeom>
        </p:spPr>
        <p:txBody>
          <a:bodyPr lIns="0" tIns="0" rIns="0" bIns="0" rtlCol="0" anchor="t">
            <a:spAutoFit/>
          </a:bodyPr>
          <a:lstStyle/>
          <a:p>
            <a:pPr algn="just">
              <a:lnSpc>
                <a:spcPts val="3346"/>
              </a:lnSpc>
              <a:spcBef>
                <a:spcPct val="0"/>
              </a:spcBef>
            </a:pPr>
            <a:r>
              <a:rPr lang="en-US" sz="2390" spc="119" dirty="0">
                <a:solidFill>
                  <a:srgbClr val="343434"/>
                </a:solidFill>
                <a:latin typeface="Telegraf"/>
                <a:ea typeface="Telegraf"/>
                <a:cs typeface="Telegraf"/>
                <a:sym typeface="Telegraf"/>
              </a:rPr>
              <a:t>Where </a:t>
            </a:r>
            <a:r>
              <a:rPr lang="en-US" sz="2390" spc="119" dirty="0" err="1">
                <a:solidFill>
                  <a:srgbClr val="343434"/>
                </a:solidFill>
                <a:latin typeface="Telegraf"/>
                <a:ea typeface="Telegraf"/>
                <a:cs typeface="Telegraf"/>
                <a:sym typeface="Telegraf"/>
              </a:rPr>
              <a:t>OpenROAD</a:t>
            </a:r>
            <a:r>
              <a:rPr lang="en-US" sz="2390" spc="119" dirty="0">
                <a:solidFill>
                  <a:srgbClr val="343434"/>
                </a:solidFill>
                <a:latin typeface="Telegraf"/>
                <a:ea typeface="Telegraf"/>
                <a:cs typeface="Telegraf"/>
                <a:sym typeface="Telegraf"/>
              </a:rPr>
              <a:t> integration comes in</a:t>
            </a:r>
          </a:p>
          <a:p>
            <a:pPr algn="just">
              <a:lnSpc>
                <a:spcPts val="3346"/>
              </a:lnSpc>
              <a:spcBef>
                <a:spcPct val="0"/>
              </a:spcBef>
            </a:pPr>
            <a:r>
              <a:rPr lang="en-US" sz="2390" spc="119" dirty="0">
                <a:solidFill>
                  <a:srgbClr val="343434"/>
                </a:solidFill>
                <a:latin typeface="Telegraf"/>
                <a:ea typeface="Telegraf"/>
                <a:cs typeface="Telegraf"/>
                <a:sym typeface="Telegraf"/>
              </a:rPr>
              <a:t>Once the basic ML pipeline is working, we can take the project one step further:</a:t>
            </a:r>
          </a:p>
        </p:txBody>
      </p:sp>
      <p:sp>
        <p:nvSpPr>
          <p:cNvPr id="5" name="TextBox 5"/>
          <p:cNvSpPr txBox="1"/>
          <p:nvPr/>
        </p:nvSpPr>
        <p:spPr>
          <a:xfrm>
            <a:off x="737120" y="2681875"/>
            <a:ext cx="4274443" cy="7018637"/>
          </a:xfrm>
          <a:prstGeom prst="rect">
            <a:avLst/>
          </a:prstGeom>
        </p:spPr>
        <p:txBody>
          <a:bodyPr lIns="0" tIns="0" rIns="0" bIns="0" rtlCol="0" anchor="t">
            <a:spAutoFit/>
          </a:bodyPr>
          <a:lstStyle/>
          <a:p>
            <a:pPr algn="ctr">
              <a:lnSpc>
                <a:spcPts val="2696"/>
              </a:lnSpc>
              <a:spcBef>
                <a:spcPct val="0"/>
              </a:spcBef>
            </a:pPr>
            <a:r>
              <a:rPr lang="en-US" sz="1925" spc="96">
                <a:solidFill>
                  <a:srgbClr val="164B82"/>
                </a:solidFill>
                <a:latin typeface="Telegraf"/>
                <a:ea typeface="Telegraf"/>
                <a:cs typeface="Telegraf"/>
                <a:sym typeface="Telegraf"/>
              </a:rPr>
              <a:t>OpenROAD Initial Placement</a:t>
            </a:r>
          </a:p>
          <a:p>
            <a:pPr algn="ctr">
              <a:lnSpc>
                <a:spcPts val="2696"/>
              </a:lnSpc>
              <a:spcBef>
                <a:spcPct val="0"/>
              </a:spcBef>
            </a:pPr>
            <a:r>
              <a:rPr lang="en-US" sz="1925" spc="96">
                <a:solidFill>
                  <a:srgbClr val="164B82"/>
                </a:solidFill>
                <a:latin typeface="Telegraf"/>
                <a:ea typeface="Telegraf"/>
                <a:cs typeface="Telegraf"/>
                <a:sym typeface="Telegraf"/>
              </a:rPr>
              <a:t>          ↓</a:t>
            </a:r>
          </a:p>
          <a:p>
            <a:pPr algn="ctr">
              <a:lnSpc>
                <a:spcPts val="2696"/>
              </a:lnSpc>
              <a:spcBef>
                <a:spcPct val="0"/>
              </a:spcBef>
            </a:pPr>
            <a:r>
              <a:rPr lang="en-US" sz="1925" spc="96">
                <a:solidFill>
                  <a:srgbClr val="164B82"/>
                </a:solidFill>
                <a:latin typeface="Telegraf"/>
                <a:ea typeface="Telegraf"/>
                <a:cs typeface="Telegraf"/>
                <a:sym typeface="Telegraf"/>
              </a:rPr>
              <a:t>    Feature Extraction</a:t>
            </a:r>
          </a:p>
          <a:p>
            <a:pPr algn="ctr">
              <a:lnSpc>
                <a:spcPts val="2696"/>
              </a:lnSpc>
              <a:spcBef>
                <a:spcPct val="0"/>
              </a:spcBef>
            </a:pPr>
            <a:r>
              <a:rPr lang="en-US" sz="1925" spc="96">
                <a:solidFill>
                  <a:srgbClr val="164B82"/>
                </a:solidFill>
                <a:latin typeface="Telegraf"/>
                <a:ea typeface="Telegraf"/>
                <a:cs typeface="Telegraf"/>
                <a:sym typeface="Telegraf"/>
              </a:rPr>
              <a:t>          ↓</a:t>
            </a:r>
          </a:p>
          <a:p>
            <a:pPr algn="ctr">
              <a:lnSpc>
                <a:spcPts val="2696"/>
              </a:lnSpc>
              <a:spcBef>
                <a:spcPct val="0"/>
              </a:spcBef>
            </a:pPr>
            <a:r>
              <a:rPr lang="en-US" sz="1925" spc="96">
                <a:solidFill>
                  <a:srgbClr val="164B82"/>
                </a:solidFill>
                <a:latin typeface="Telegraf"/>
                <a:ea typeface="Telegraf"/>
                <a:cs typeface="Telegraf"/>
                <a:sym typeface="Telegraf"/>
              </a:rPr>
              <a:t>        ML Model</a:t>
            </a:r>
          </a:p>
          <a:p>
            <a:pPr algn="ctr">
              <a:lnSpc>
                <a:spcPts val="2696"/>
              </a:lnSpc>
              <a:spcBef>
                <a:spcPct val="0"/>
              </a:spcBef>
            </a:pPr>
            <a:r>
              <a:rPr lang="en-US" sz="1925" spc="96">
                <a:solidFill>
                  <a:srgbClr val="164B82"/>
                </a:solidFill>
                <a:latin typeface="Telegraf"/>
                <a:ea typeface="Telegraf"/>
                <a:cs typeface="Telegraf"/>
                <a:sym typeface="Telegraf"/>
              </a:rPr>
              <a:t>          ↓</a:t>
            </a:r>
          </a:p>
          <a:p>
            <a:pPr algn="ctr">
              <a:lnSpc>
                <a:spcPts val="2696"/>
              </a:lnSpc>
              <a:spcBef>
                <a:spcPct val="0"/>
              </a:spcBef>
            </a:pPr>
            <a:r>
              <a:rPr lang="en-US" sz="1925" spc="96">
                <a:solidFill>
                  <a:srgbClr val="164B82"/>
                </a:solidFill>
                <a:latin typeface="Telegraf"/>
                <a:ea typeface="Telegraf"/>
                <a:cs typeface="Telegraf"/>
                <a:sym typeface="Telegraf"/>
              </a:rPr>
              <a:t>   Hotspot Prediction</a:t>
            </a:r>
          </a:p>
          <a:p>
            <a:pPr algn="ctr">
              <a:lnSpc>
                <a:spcPts val="2696"/>
              </a:lnSpc>
              <a:spcBef>
                <a:spcPct val="0"/>
              </a:spcBef>
            </a:pPr>
            <a:r>
              <a:rPr lang="en-US" sz="1925" spc="96">
                <a:solidFill>
                  <a:srgbClr val="164B82"/>
                </a:solidFill>
                <a:latin typeface="Telegraf"/>
                <a:ea typeface="Telegraf"/>
                <a:cs typeface="Telegraf"/>
                <a:sym typeface="Telegraf"/>
              </a:rPr>
              <a:t>          ↓</a:t>
            </a:r>
          </a:p>
          <a:p>
            <a:pPr algn="ctr">
              <a:lnSpc>
                <a:spcPts val="2696"/>
              </a:lnSpc>
              <a:spcBef>
                <a:spcPct val="0"/>
              </a:spcBef>
            </a:pPr>
            <a:r>
              <a:rPr lang="en-US" sz="1925" spc="96">
                <a:solidFill>
                  <a:srgbClr val="164B82"/>
                </a:solidFill>
                <a:latin typeface="Telegraf"/>
                <a:ea typeface="Telegraf"/>
                <a:cs typeface="Telegraf"/>
                <a:sym typeface="Telegraf"/>
              </a:rPr>
              <a:t>   Placement Refinement</a:t>
            </a:r>
          </a:p>
          <a:p>
            <a:pPr algn="ctr">
              <a:lnSpc>
                <a:spcPts val="2696"/>
              </a:lnSpc>
              <a:spcBef>
                <a:spcPct val="0"/>
              </a:spcBef>
            </a:pPr>
            <a:r>
              <a:rPr lang="en-US" sz="1925" spc="96">
                <a:solidFill>
                  <a:srgbClr val="164B82"/>
                </a:solidFill>
                <a:latin typeface="Telegraf"/>
                <a:ea typeface="Telegraf"/>
                <a:cs typeface="Telegraf"/>
                <a:sym typeface="Telegraf"/>
              </a:rPr>
              <a:t>          ↓</a:t>
            </a:r>
          </a:p>
          <a:p>
            <a:pPr algn="ctr">
              <a:lnSpc>
                <a:spcPts val="2696"/>
              </a:lnSpc>
              <a:spcBef>
                <a:spcPct val="0"/>
              </a:spcBef>
            </a:pPr>
            <a:r>
              <a:rPr lang="en-US" sz="1925" spc="96">
                <a:solidFill>
                  <a:srgbClr val="164B82"/>
                </a:solidFill>
                <a:latin typeface="Telegraf"/>
                <a:ea typeface="Telegraf"/>
                <a:cs typeface="Telegraf"/>
                <a:sym typeface="Telegraf"/>
              </a:rPr>
              <a:t>     OpenROAD Re-run</a:t>
            </a:r>
          </a:p>
          <a:p>
            <a:pPr algn="ctr">
              <a:lnSpc>
                <a:spcPts val="2696"/>
              </a:lnSpc>
              <a:spcBef>
                <a:spcPct val="0"/>
              </a:spcBef>
            </a:pPr>
            <a:r>
              <a:rPr lang="en-US" sz="1925" spc="96">
                <a:solidFill>
                  <a:srgbClr val="164B82"/>
                </a:solidFill>
                <a:latin typeface="Telegraf"/>
                <a:ea typeface="Telegraf"/>
                <a:cs typeface="Telegraf"/>
                <a:sym typeface="Telegraf"/>
              </a:rPr>
              <a:t>          ↓</a:t>
            </a:r>
          </a:p>
          <a:p>
            <a:pPr algn="ctr">
              <a:lnSpc>
                <a:spcPts val="2696"/>
              </a:lnSpc>
              <a:spcBef>
                <a:spcPct val="0"/>
              </a:spcBef>
            </a:pPr>
            <a:r>
              <a:rPr lang="en-US" sz="1925" spc="96">
                <a:solidFill>
                  <a:srgbClr val="164B82"/>
                </a:solidFill>
                <a:latin typeface="Telegraf"/>
                <a:ea typeface="Telegraf"/>
                <a:cs typeface="Telegraf"/>
                <a:sym typeface="Telegraf"/>
              </a:rPr>
              <a:t> ML Integration (Time Permits)</a:t>
            </a:r>
          </a:p>
          <a:p>
            <a:pPr algn="ctr">
              <a:lnSpc>
                <a:spcPts val="2696"/>
              </a:lnSpc>
              <a:spcBef>
                <a:spcPct val="0"/>
              </a:spcBef>
            </a:pPr>
            <a:r>
              <a:rPr lang="en-US" sz="1925" spc="96">
                <a:solidFill>
                  <a:srgbClr val="164B82"/>
                </a:solidFill>
                <a:latin typeface="Telegraf"/>
                <a:ea typeface="Telegraf"/>
                <a:cs typeface="Telegraf"/>
                <a:sym typeface="Telegraf"/>
              </a:rPr>
              <a:t>          ↓</a:t>
            </a:r>
          </a:p>
          <a:p>
            <a:pPr algn="ctr">
              <a:lnSpc>
                <a:spcPts val="2696"/>
              </a:lnSpc>
              <a:spcBef>
                <a:spcPct val="0"/>
              </a:spcBef>
            </a:pPr>
            <a:r>
              <a:rPr lang="en-US" sz="1925" spc="96">
                <a:solidFill>
                  <a:srgbClr val="164B82"/>
                </a:solidFill>
                <a:latin typeface="Telegraf"/>
                <a:ea typeface="Telegraf"/>
                <a:cs typeface="Telegraf"/>
                <a:sym typeface="Telegraf"/>
              </a:rPr>
              <a:t> Automated ML-Guided Placement</a:t>
            </a:r>
          </a:p>
          <a:p>
            <a:pPr algn="ctr">
              <a:lnSpc>
                <a:spcPts val="2696"/>
              </a:lnSpc>
              <a:spcBef>
                <a:spcPct val="0"/>
              </a:spcBef>
            </a:pPr>
            <a:r>
              <a:rPr lang="en-US" sz="1925" spc="96">
                <a:solidFill>
                  <a:srgbClr val="164B82"/>
                </a:solidFill>
                <a:latin typeface="Telegraf"/>
                <a:ea typeface="Telegraf"/>
                <a:cs typeface="Telegraf"/>
                <a:sym typeface="Telegraf"/>
              </a:rPr>
              <a:t>          ↓</a:t>
            </a:r>
          </a:p>
          <a:p>
            <a:pPr algn="ctr">
              <a:lnSpc>
                <a:spcPts val="2696"/>
              </a:lnSpc>
              <a:spcBef>
                <a:spcPct val="0"/>
              </a:spcBef>
            </a:pPr>
            <a:r>
              <a:rPr lang="en-US" sz="1925" spc="96">
                <a:solidFill>
                  <a:srgbClr val="164B82"/>
                </a:solidFill>
                <a:latin typeface="Telegraf"/>
                <a:ea typeface="Telegraf"/>
                <a:cs typeface="Telegraf"/>
                <a:sym typeface="Telegraf"/>
              </a:rPr>
              <a:t>      Final Routing</a:t>
            </a:r>
          </a:p>
          <a:p>
            <a:pPr algn="ctr">
              <a:lnSpc>
                <a:spcPts val="2696"/>
              </a:lnSpc>
              <a:spcBef>
                <a:spcPct val="0"/>
              </a:spcBef>
            </a:pPr>
            <a:r>
              <a:rPr lang="en-US" sz="1925" spc="96">
                <a:solidFill>
                  <a:srgbClr val="164B82"/>
                </a:solidFill>
                <a:latin typeface="Telegraf"/>
                <a:ea typeface="Telegraf"/>
                <a:cs typeface="Telegraf"/>
                <a:sym typeface="Telegraf"/>
              </a:rPr>
              <a:t>          ↓</a:t>
            </a:r>
          </a:p>
          <a:p>
            <a:pPr algn="ctr">
              <a:lnSpc>
                <a:spcPts val="2696"/>
              </a:lnSpc>
              <a:spcBef>
                <a:spcPct val="0"/>
              </a:spcBef>
            </a:pPr>
            <a:r>
              <a:rPr lang="en-US" sz="1925" spc="96">
                <a:solidFill>
                  <a:srgbClr val="164B82"/>
                </a:solidFill>
                <a:latin typeface="Telegraf"/>
                <a:ea typeface="Telegraf"/>
                <a:cs typeface="Telegraf"/>
                <a:sym typeface="Telegraf"/>
              </a:rPr>
              <a:t>   Congestion + SHE Analysis</a:t>
            </a:r>
          </a:p>
          <a:p>
            <a:pPr algn="ctr">
              <a:lnSpc>
                <a:spcPts val="2696"/>
              </a:lnSpc>
              <a:spcBef>
                <a:spcPct val="0"/>
              </a:spcBef>
            </a:pPr>
            <a:r>
              <a:rPr lang="en-US" sz="1925" spc="96">
                <a:solidFill>
                  <a:srgbClr val="164B82"/>
                </a:solidFill>
                <a:latin typeface="Telegraf"/>
                <a:ea typeface="Telegraf"/>
                <a:cs typeface="Telegraf"/>
                <a:sym typeface="Telegraf"/>
              </a:rPr>
              <a:t>          ↓</a:t>
            </a:r>
          </a:p>
          <a:p>
            <a:pPr algn="ctr">
              <a:lnSpc>
                <a:spcPts val="2696"/>
              </a:lnSpc>
              <a:spcBef>
                <a:spcPct val="0"/>
              </a:spcBef>
            </a:pPr>
            <a:r>
              <a:rPr lang="en-US" sz="1925" spc="96">
                <a:solidFill>
                  <a:srgbClr val="164B82"/>
                </a:solidFill>
                <a:latin typeface="Telegraf"/>
                <a:ea typeface="Telegraf"/>
                <a:cs typeface="Telegraf"/>
                <a:sym typeface="Telegraf"/>
              </a:rPr>
              <a:t>   PPA &amp; Thermal Comparison</a:t>
            </a:r>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AutoShape 2"/>
          <p:cNvSpPr/>
          <p:nvPr/>
        </p:nvSpPr>
        <p:spPr>
          <a:xfrm>
            <a:off x="15606461" y="4656530"/>
            <a:ext cx="1077509" cy="0"/>
          </a:xfrm>
          <a:prstGeom prst="line">
            <a:avLst/>
          </a:prstGeom>
          <a:ln w="95250" cap="flat">
            <a:solidFill>
              <a:srgbClr val="699ACD"/>
            </a:solidFill>
            <a:prstDash val="solid"/>
            <a:headEnd type="none" w="sm" len="sm"/>
            <a:tailEnd type="none" w="sm" len="sm"/>
          </a:ln>
        </p:spPr>
      </p:sp>
      <p:sp>
        <p:nvSpPr>
          <p:cNvPr id="3" name="Freeform 3"/>
          <p:cNvSpPr/>
          <p:nvPr/>
        </p:nvSpPr>
        <p:spPr>
          <a:xfrm flipH="1" flipV="1">
            <a:off x="0" y="0"/>
            <a:ext cx="6614109" cy="10287000"/>
          </a:xfrm>
          <a:custGeom>
            <a:avLst/>
            <a:gdLst/>
            <a:ahLst/>
            <a:cxnLst/>
            <a:rect l="l" t="t" r="r" b="b"/>
            <a:pathLst>
              <a:path w="6614109" h="10287000">
                <a:moveTo>
                  <a:pt x="6614109" y="10287000"/>
                </a:moveTo>
                <a:lnTo>
                  <a:pt x="0" y="10287000"/>
                </a:lnTo>
                <a:lnTo>
                  <a:pt x="0" y="0"/>
                </a:lnTo>
                <a:lnTo>
                  <a:pt x="6614109" y="0"/>
                </a:lnTo>
                <a:lnTo>
                  <a:pt x="6614109" y="10287000"/>
                </a:lnTo>
                <a:close/>
              </a:path>
            </a:pathLst>
          </a:custGeom>
          <a:blipFill>
            <a:blip r:embed="rId2"/>
            <a:stretch>
              <a:fillRect t="-14295" r="-99999" b="-14295"/>
            </a:stretch>
          </a:blipFill>
        </p:spPr>
      </p:sp>
      <p:sp>
        <p:nvSpPr>
          <p:cNvPr id="4" name="TextBox 4"/>
          <p:cNvSpPr txBox="1"/>
          <p:nvPr/>
        </p:nvSpPr>
        <p:spPr>
          <a:xfrm>
            <a:off x="9144000" y="2418155"/>
            <a:ext cx="7539970" cy="2190750"/>
          </a:xfrm>
          <a:prstGeom prst="rect">
            <a:avLst/>
          </a:prstGeom>
        </p:spPr>
        <p:txBody>
          <a:bodyPr lIns="0" tIns="0" rIns="0" bIns="0" rtlCol="0" anchor="t">
            <a:spAutoFit/>
          </a:bodyPr>
          <a:lstStyle/>
          <a:p>
            <a:pPr algn="r">
              <a:lnSpc>
                <a:spcPts val="16800"/>
              </a:lnSpc>
            </a:pPr>
            <a:r>
              <a:rPr lang="en-US" sz="12000" b="1">
                <a:solidFill>
                  <a:srgbClr val="164B82"/>
                </a:solidFill>
                <a:latin typeface="Telegraf Bold"/>
                <a:ea typeface="Telegraf Bold"/>
                <a:cs typeface="Telegraf Bold"/>
                <a:sym typeface="Telegraf Bold"/>
              </a:rPr>
              <a:t>THE END</a:t>
            </a:r>
          </a:p>
        </p:txBody>
      </p:sp>
    </p:spTree>
  </p:cSld>
  <p:clrMapOvr>
    <a:masterClrMapping/>
  </p:clrMapOvr>
  <p:transition>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557</Words>
  <Application>Microsoft Office PowerPoint</Application>
  <PresentationFormat>Custom</PresentationFormat>
  <Paragraphs>97</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Times New Roman</vt:lpstr>
      <vt:lpstr>Calibri</vt:lpstr>
      <vt:lpstr>Arial</vt:lpstr>
      <vt:lpstr>Telegraf</vt:lpstr>
      <vt:lpstr>Telegraf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Learning-Based Early Prediction of Routing Congestion and Self-Heating Hotspots in ASAP7 FinFET Physical Design”</dc:title>
  <cp:lastModifiedBy>HP</cp:lastModifiedBy>
  <cp:revision>5</cp:revision>
  <dcterms:created xsi:type="dcterms:W3CDTF">2006-08-16T00:00:00Z</dcterms:created>
  <dcterms:modified xsi:type="dcterms:W3CDTF">2026-09-17T15:25:23Z</dcterms:modified>
  <dc:identifier>DAHVbkPS8B8</dc:identifier>
</cp:coreProperties>
</file>